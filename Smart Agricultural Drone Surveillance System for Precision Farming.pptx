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mp4" ContentType="video/unknown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1" r:id="rId5"/>
  </p:sldIdLst>
  <p:sldSz cx="18288000" cy="10287000"/>
  <p:notesSz cx="6858000" cy="9144000"/>
  <p:embeddedFontLst>
    <p:embeddedFont>
      <p:font typeface="Canva Sans" panose="020B0604020202020204" charset="0"/>
      <p:regular r:id="rId6"/>
    </p:embeddedFont>
    <p:embeddedFont>
      <p:font typeface="Arial Black" panose="020B0A04020102020204" pitchFamily="34" charset="0"/>
      <p:bold r:id="rId7"/>
    </p:embeddedFont>
    <p:embeddedFont>
      <p:font typeface="Times New Roman Bold" panose="02020803070505020304" pitchFamily="18" charset="0"/>
      <p:bold r:id="rId8"/>
    </p:embeddedFont>
    <p:embeddedFont>
      <p:font typeface="Times New Roman Italics" panose="020B0604020202020204" charset="0"/>
      <p:regular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-816" y="-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" y="0"/>
            <a:ext cx="18287999" cy="10287000"/>
          </a:xfrm>
          <a:custGeom>
            <a:avLst/>
            <a:gdLst/>
            <a:ahLst/>
            <a:cxnLst/>
            <a:rect l="l" t="t" r="r" b="b"/>
            <a:pathLst>
              <a:path w="26576691" h="11893069">
                <a:moveTo>
                  <a:pt x="0" y="0"/>
                </a:moveTo>
                <a:lnTo>
                  <a:pt x="26576690" y="0"/>
                </a:lnTo>
                <a:lnTo>
                  <a:pt x="26576690" y="11893069"/>
                </a:lnTo>
                <a:lnTo>
                  <a:pt x="0" y="118930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-6603683"/>
            <a:ext cx="18288001" cy="16890683"/>
          </a:xfrm>
          <a:custGeom>
            <a:avLst/>
            <a:gdLst/>
            <a:ahLst/>
            <a:cxnLst/>
            <a:rect l="l" t="t" r="r" b="b"/>
            <a:pathLst>
              <a:path w="33781366" h="16890683">
                <a:moveTo>
                  <a:pt x="0" y="0"/>
                </a:moveTo>
                <a:lnTo>
                  <a:pt x="33781367" y="0"/>
                </a:lnTo>
                <a:lnTo>
                  <a:pt x="33781367" y="16890683"/>
                </a:lnTo>
                <a:lnTo>
                  <a:pt x="0" y="168906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7226054" y="5600700"/>
            <a:ext cx="3322732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2458640" y="6438900"/>
            <a:ext cx="12857560" cy="2935825"/>
            <a:chOff x="0" y="0"/>
            <a:chExt cx="3146501" cy="7460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46501" cy="746055"/>
            </a:xfrm>
            <a:custGeom>
              <a:avLst/>
              <a:gdLst/>
              <a:ahLst/>
              <a:cxnLst/>
              <a:rect l="l" t="t" r="r" b="b"/>
              <a:pathLst>
                <a:path w="3146501" h="746055">
                  <a:moveTo>
                    <a:pt x="64803" y="0"/>
                  </a:moveTo>
                  <a:lnTo>
                    <a:pt x="3081699" y="0"/>
                  </a:lnTo>
                  <a:cubicBezTo>
                    <a:pt x="3117488" y="0"/>
                    <a:pt x="3146501" y="29013"/>
                    <a:pt x="3146501" y="64803"/>
                  </a:cubicBezTo>
                  <a:lnTo>
                    <a:pt x="3146501" y="681252"/>
                  </a:lnTo>
                  <a:cubicBezTo>
                    <a:pt x="3146501" y="698439"/>
                    <a:pt x="3139674" y="714921"/>
                    <a:pt x="3127521" y="727074"/>
                  </a:cubicBezTo>
                  <a:cubicBezTo>
                    <a:pt x="3115368" y="739227"/>
                    <a:pt x="3098885" y="746055"/>
                    <a:pt x="3081699" y="746055"/>
                  </a:cubicBezTo>
                  <a:lnTo>
                    <a:pt x="64803" y="746055"/>
                  </a:lnTo>
                  <a:cubicBezTo>
                    <a:pt x="47616" y="746055"/>
                    <a:pt x="31133" y="739227"/>
                    <a:pt x="18980" y="727074"/>
                  </a:cubicBezTo>
                  <a:cubicBezTo>
                    <a:pt x="6827" y="714921"/>
                    <a:pt x="0" y="698439"/>
                    <a:pt x="0" y="681252"/>
                  </a:cubicBezTo>
                  <a:lnTo>
                    <a:pt x="0" y="64803"/>
                  </a:lnTo>
                  <a:cubicBezTo>
                    <a:pt x="0" y="47616"/>
                    <a:pt x="6827" y="31133"/>
                    <a:pt x="18980" y="18980"/>
                  </a:cubicBezTo>
                  <a:cubicBezTo>
                    <a:pt x="31133" y="6827"/>
                    <a:pt x="47616" y="0"/>
                    <a:pt x="648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95250"/>
              <a:ext cx="3146501" cy="841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3000" i="1" dirty="0">
                  <a:solidFill>
                    <a:srgbClr val="FFFFFF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Presented by :</a:t>
              </a:r>
            </a:p>
            <a:p>
              <a:pPr algn="ctr">
                <a:lnSpc>
                  <a:spcPts val="3499"/>
                </a:lnSpc>
              </a:pPr>
              <a:r>
                <a:rPr lang="en-US" sz="3000" i="1" dirty="0">
                  <a:solidFill>
                    <a:srgbClr val="FFFFFF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Pratyusha Chatterjee</a:t>
              </a:r>
            </a:p>
            <a:p>
              <a:pPr algn="ctr">
                <a:lnSpc>
                  <a:spcPts val="3499"/>
                </a:lnSpc>
              </a:pPr>
              <a:r>
                <a:rPr lang="en-US" sz="3000" i="1" dirty="0" smtClean="0">
                  <a:solidFill>
                    <a:srgbClr val="FFFFFF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Supervised </a:t>
              </a:r>
              <a:r>
                <a:rPr lang="en-US" sz="3000" i="1" dirty="0">
                  <a:solidFill>
                    <a:srgbClr val="FFFFFF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By:</a:t>
              </a:r>
            </a:p>
            <a:p>
              <a:pPr algn="ctr">
                <a:lnSpc>
                  <a:spcPts val="3499"/>
                </a:lnSpc>
              </a:pPr>
              <a:r>
                <a:rPr lang="en-US" sz="3000" i="1" dirty="0">
                  <a:solidFill>
                    <a:srgbClr val="FFFFFF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Dr. </a:t>
              </a:r>
              <a:r>
                <a:rPr lang="en-US" sz="3000" i="1" dirty="0" err="1">
                  <a:solidFill>
                    <a:srgbClr val="FFFFFF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Tanima</a:t>
              </a:r>
              <a:r>
                <a:rPr lang="en-US" sz="3000" i="1" dirty="0">
                  <a:solidFill>
                    <a:srgbClr val="FFFFFF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 </a:t>
              </a:r>
              <a:r>
                <a:rPr lang="en-US" sz="3000" i="1" dirty="0" err="1">
                  <a:solidFill>
                    <a:srgbClr val="FFFFFF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Bhowmik</a:t>
              </a:r>
              <a:r>
                <a:rPr lang="en-US" sz="3000" i="1" dirty="0">
                  <a:solidFill>
                    <a:srgbClr val="FFFFFF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 </a:t>
              </a:r>
            </a:p>
            <a:p>
              <a:pPr algn="ctr">
                <a:lnSpc>
                  <a:spcPts val="3499"/>
                </a:lnSpc>
              </a:pPr>
              <a:r>
                <a:rPr lang="en-US" sz="3000" i="1" dirty="0">
                  <a:solidFill>
                    <a:srgbClr val="FFFFFF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Institute of Engineering and Management , Kolkata, India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-4550" y="2324100"/>
            <a:ext cx="18288000" cy="2718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25"/>
              </a:lnSpc>
            </a:pPr>
            <a:r>
              <a:rPr lang="en-US" sz="9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Agricultural Drone Surveillance System for Precision Farming </a:t>
            </a:r>
            <a:endParaRPr lang="en-US" sz="9000" dirty="0">
              <a:solidFill>
                <a:schemeClr val="bg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81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0226" y="423238"/>
            <a:ext cx="17498808" cy="9440524"/>
            <a:chOff x="0" y="0"/>
            <a:chExt cx="4608739" cy="24863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08740" cy="2486393"/>
            </a:xfrm>
            <a:custGeom>
              <a:avLst/>
              <a:gdLst/>
              <a:ahLst/>
              <a:cxnLst/>
              <a:rect l="l" t="t" r="r" b="b"/>
              <a:pathLst>
                <a:path w="4608740" h="2486393">
                  <a:moveTo>
                    <a:pt x="9733" y="0"/>
                  </a:moveTo>
                  <a:lnTo>
                    <a:pt x="4599006" y="0"/>
                  </a:lnTo>
                  <a:cubicBezTo>
                    <a:pt x="4601588" y="0"/>
                    <a:pt x="4604064" y="1025"/>
                    <a:pt x="4605889" y="2851"/>
                  </a:cubicBezTo>
                  <a:cubicBezTo>
                    <a:pt x="4607714" y="4676"/>
                    <a:pt x="4608740" y="7152"/>
                    <a:pt x="4608740" y="9733"/>
                  </a:cubicBezTo>
                  <a:lnTo>
                    <a:pt x="4608740" y="2476660"/>
                  </a:lnTo>
                  <a:cubicBezTo>
                    <a:pt x="4608740" y="2479241"/>
                    <a:pt x="4607714" y="2481717"/>
                    <a:pt x="4605889" y="2483542"/>
                  </a:cubicBezTo>
                  <a:cubicBezTo>
                    <a:pt x="4604064" y="2485367"/>
                    <a:pt x="4601588" y="2486393"/>
                    <a:pt x="4599006" y="2486393"/>
                  </a:cubicBezTo>
                  <a:lnTo>
                    <a:pt x="9733" y="2486393"/>
                  </a:lnTo>
                  <a:cubicBezTo>
                    <a:pt x="7152" y="2486393"/>
                    <a:pt x="4676" y="2485367"/>
                    <a:pt x="2851" y="2483542"/>
                  </a:cubicBezTo>
                  <a:cubicBezTo>
                    <a:pt x="1025" y="2481717"/>
                    <a:pt x="0" y="2479241"/>
                    <a:pt x="0" y="2476660"/>
                  </a:cubicBezTo>
                  <a:lnTo>
                    <a:pt x="0" y="9733"/>
                  </a:lnTo>
                  <a:cubicBezTo>
                    <a:pt x="0" y="7152"/>
                    <a:pt x="1025" y="4676"/>
                    <a:pt x="2851" y="2851"/>
                  </a:cubicBezTo>
                  <a:cubicBezTo>
                    <a:pt x="4676" y="1025"/>
                    <a:pt x="7152" y="0"/>
                    <a:pt x="97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4608739" cy="2562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15815" y="741572"/>
            <a:ext cx="5770663" cy="843861"/>
            <a:chOff x="0" y="0"/>
            <a:chExt cx="1519845" cy="2222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19846" cy="222251"/>
            </a:xfrm>
            <a:custGeom>
              <a:avLst/>
              <a:gdLst/>
              <a:ahLst/>
              <a:cxnLst/>
              <a:rect l="l" t="t" r="r" b="b"/>
              <a:pathLst>
                <a:path w="1519846" h="222251">
                  <a:moveTo>
                    <a:pt x="111126" y="0"/>
                  </a:moveTo>
                  <a:lnTo>
                    <a:pt x="1408720" y="0"/>
                  </a:lnTo>
                  <a:cubicBezTo>
                    <a:pt x="1470093" y="0"/>
                    <a:pt x="1519846" y="49753"/>
                    <a:pt x="1519846" y="111126"/>
                  </a:cubicBezTo>
                  <a:lnTo>
                    <a:pt x="1519846" y="111126"/>
                  </a:lnTo>
                  <a:cubicBezTo>
                    <a:pt x="1519846" y="140598"/>
                    <a:pt x="1508138" y="168863"/>
                    <a:pt x="1487298" y="189703"/>
                  </a:cubicBezTo>
                  <a:cubicBezTo>
                    <a:pt x="1466457" y="210544"/>
                    <a:pt x="1438192" y="222251"/>
                    <a:pt x="1408720" y="222251"/>
                  </a:cubicBezTo>
                  <a:lnTo>
                    <a:pt x="111126" y="222251"/>
                  </a:lnTo>
                  <a:cubicBezTo>
                    <a:pt x="49753" y="222251"/>
                    <a:pt x="0" y="172499"/>
                    <a:pt x="0" y="111126"/>
                  </a:cubicBezTo>
                  <a:lnTo>
                    <a:pt x="0" y="111126"/>
                  </a:lnTo>
                  <a:cubicBezTo>
                    <a:pt x="0" y="49753"/>
                    <a:pt x="49753" y="0"/>
                    <a:pt x="111126" y="0"/>
                  </a:cubicBezTo>
                  <a:close/>
                </a:path>
              </a:pathLst>
            </a:custGeom>
            <a:solidFill>
              <a:srgbClr val="487307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1519845" cy="298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71975" y="831217"/>
            <a:ext cx="9658983" cy="8467349"/>
          </a:xfrm>
          <a:custGeom>
            <a:avLst/>
            <a:gdLst/>
            <a:ahLst/>
            <a:cxnLst/>
            <a:rect l="l" t="t" r="r" b="b"/>
            <a:pathLst>
              <a:path w="9275132" h="8135064">
                <a:moveTo>
                  <a:pt x="0" y="0"/>
                </a:moveTo>
                <a:lnTo>
                  <a:pt x="9275132" y="0"/>
                </a:lnTo>
                <a:lnTo>
                  <a:pt x="9275132" y="8135064"/>
                </a:lnTo>
                <a:lnTo>
                  <a:pt x="0" y="81350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1078550" y="741572"/>
            <a:ext cx="5392904" cy="788763"/>
            <a:chOff x="0" y="0"/>
            <a:chExt cx="1420353" cy="2077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20353" cy="207740"/>
            </a:xfrm>
            <a:custGeom>
              <a:avLst/>
              <a:gdLst/>
              <a:ahLst/>
              <a:cxnLst/>
              <a:rect l="l" t="t" r="r" b="b"/>
              <a:pathLst>
                <a:path w="1420353" h="207740">
                  <a:moveTo>
                    <a:pt x="103870" y="0"/>
                  </a:moveTo>
                  <a:lnTo>
                    <a:pt x="1316483" y="0"/>
                  </a:lnTo>
                  <a:cubicBezTo>
                    <a:pt x="1344031" y="0"/>
                    <a:pt x="1370451" y="10943"/>
                    <a:pt x="1389931" y="30423"/>
                  </a:cubicBezTo>
                  <a:cubicBezTo>
                    <a:pt x="1409410" y="49902"/>
                    <a:pt x="1420353" y="76322"/>
                    <a:pt x="1420353" y="103870"/>
                  </a:cubicBezTo>
                  <a:lnTo>
                    <a:pt x="1420353" y="103870"/>
                  </a:lnTo>
                  <a:cubicBezTo>
                    <a:pt x="1420353" y="131418"/>
                    <a:pt x="1409410" y="157838"/>
                    <a:pt x="1389931" y="177317"/>
                  </a:cubicBezTo>
                  <a:cubicBezTo>
                    <a:pt x="1370451" y="196797"/>
                    <a:pt x="1344031" y="207740"/>
                    <a:pt x="1316483" y="207740"/>
                  </a:cubicBezTo>
                  <a:lnTo>
                    <a:pt x="103870" y="207740"/>
                  </a:lnTo>
                  <a:cubicBezTo>
                    <a:pt x="76322" y="207740"/>
                    <a:pt x="49902" y="196797"/>
                    <a:pt x="30423" y="177317"/>
                  </a:cubicBezTo>
                  <a:cubicBezTo>
                    <a:pt x="10943" y="157838"/>
                    <a:pt x="0" y="131418"/>
                    <a:pt x="0" y="103870"/>
                  </a:cubicBezTo>
                  <a:lnTo>
                    <a:pt x="0" y="103870"/>
                  </a:lnTo>
                  <a:cubicBezTo>
                    <a:pt x="0" y="76322"/>
                    <a:pt x="10943" y="49902"/>
                    <a:pt x="30423" y="30423"/>
                  </a:cubicBezTo>
                  <a:cubicBezTo>
                    <a:pt x="49902" y="10943"/>
                    <a:pt x="76322" y="0"/>
                    <a:pt x="103870" y="0"/>
                  </a:cubicBezTo>
                  <a:close/>
                </a:path>
              </a:pathLst>
            </a:custGeom>
            <a:solidFill>
              <a:srgbClr val="487307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1420353" cy="2839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208646" y="683619"/>
            <a:ext cx="5132713" cy="756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70"/>
              </a:lnSpc>
              <a:spcBef>
                <a:spcPct val="0"/>
              </a:spcBef>
            </a:pPr>
            <a:r>
              <a:rPr lang="en-US" sz="397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Solution</a:t>
            </a:r>
          </a:p>
        </p:txBody>
      </p:sp>
      <p:sp>
        <p:nvSpPr>
          <p:cNvPr id="13" name="Freeform 13"/>
          <p:cNvSpPr/>
          <p:nvPr/>
        </p:nvSpPr>
        <p:spPr>
          <a:xfrm>
            <a:off x="9261707" y="1166386"/>
            <a:ext cx="8805578" cy="8289397"/>
          </a:xfrm>
          <a:custGeom>
            <a:avLst/>
            <a:gdLst/>
            <a:ahLst/>
            <a:cxnLst/>
            <a:rect l="l" t="t" r="r" b="b"/>
            <a:pathLst>
              <a:path w="8341831" h="7739992">
                <a:moveTo>
                  <a:pt x="0" y="0"/>
                </a:moveTo>
                <a:lnTo>
                  <a:pt x="8341831" y="0"/>
                </a:lnTo>
                <a:lnTo>
                  <a:pt x="8341831" y="7739992"/>
                </a:lnTo>
                <a:lnTo>
                  <a:pt x="0" y="77399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811"/>
            </a:stretch>
          </a:blipFill>
        </p:spPr>
      </p:sp>
      <p:sp>
        <p:nvSpPr>
          <p:cNvPr id="14" name="AutoShape 14"/>
          <p:cNvSpPr/>
          <p:nvPr/>
        </p:nvSpPr>
        <p:spPr>
          <a:xfrm>
            <a:off x="9477203" y="1368254"/>
            <a:ext cx="0" cy="795847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1858244" y="672014"/>
            <a:ext cx="5885409" cy="858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  <a:spcBef>
                <a:spcPct val="0"/>
              </a:spcBef>
            </a:pPr>
            <a:r>
              <a:rPr lang="en-US" sz="445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81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3058" y="277474"/>
            <a:ext cx="17661884" cy="9732052"/>
            <a:chOff x="0" y="0"/>
            <a:chExt cx="4651690" cy="25631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51689" cy="2563174"/>
            </a:xfrm>
            <a:custGeom>
              <a:avLst/>
              <a:gdLst/>
              <a:ahLst/>
              <a:cxnLst/>
              <a:rect l="l" t="t" r="r" b="b"/>
              <a:pathLst>
                <a:path w="4651689" h="2563174">
                  <a:moveTo>
                    <a:pt x="8767" y="0"/>
                  </a:moveTo>
                  <a:lnTo>
                    <a:pt x="4642922" y="0"/>
                  </a:lnTo>
                  <a:cubicBezTo>
                    <a:pt x="4645247" y="0"/>
                    <a:pt x="4647478" y="924"/>
                    <a:pt x="4649122" y="2568"/>
                  </a:cubicBezTo>
                  <a:cubicBezTo>
                    <a:pt x="4650766" y="4212"/>
                    <a:pt x="4651689" y="6442"/>
                    <a:pt x="4651689" y="8767"/>
                  </a:cubicBezTo>
                  <a:lnTo>
                    <a:pt x="4651689" y="2554408"/>
                  </a:lnTo>
                  <a:cubicBezTo>
                    <a:pt x="4651689" y="2559249"/>
                    <a:pt x="4647764" y="2563174"/>
                    <a:pt x="4642922" y="2563174"/>
                  </a:cubicBezTo>
                  <a:lnTo>
                    <a:pt x="8767" y="2563174"/>
                  </a:lnTo>
                  <a:cubicBezTo>
                    <a:pt x="3925" y="2563174"/>
                    <a:pt x="0" y="2559249"/>
                    <a:pt x="0" y="2554408"/>
                  </a:cubicBezTo>
                  <a:lnTo>
                    <a:pt x="0" y="8767"/>
                  </a:lnTo>
                  <a:cubicBezTo>
                    <a:pt x="0" y="3925"/>
                    <a:pt x="3925" y="0"/>
                    <a:pt x="876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51690" cy="26012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63891" y="1299828"/>
            <a:ext cx="7620000" cy="3157871"/>
          </a:xfrm>
          <a:custGeom>
            <a:avLst/>
            <a:gdLst/>
            <a:ahLst/>
            <a:cxnLst/>
            <a:rect l="l" t="t" r="r" b="b"/>
            <a:pathLst>
              <a:path w="7642861" h="3928166">
                <a:moveTo>
                  <a:pt x="0" y="0"/>
                </a:moveTo>
                <a:lnTo>
                  <a:pt x="7642860" y="0"/>
                </a:lnTo>
                <a:lnTo>
                  <a:pt x="7642860" y="3928166"/>
                </a:lnTo>
                <a:lnTo>
                  <a:pt x="0" y="3928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88" t="-33708" r="-3356" b="-963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143998" y="628954"/>
            <a:ext cx="3860249" cy="4179846"/>
          </a:xfrm>
          <a:custGeom>
            <a:avLst/>
            <a:gdLst/>
            <a:ahLst/>
            <a:cxnLst/>
            <a:rect l="l" t="t" r="r" b="b"/>
            <a:pathLst>
              <a:path w="3860249" h="4450375">
                <a:moveTo>
                  <a:pt x="0" y="0"/>
                </a:moveTo>
                <a:lnTo>
                  <a:pt x="3860249" y="0"/>
                </a:lnTo>
                <a:lnTo>
                  <a:pt x="3860249" y="4450374"/>
                </a:lnTo>
                <a:lnTo>
                  <a:pt x="0" y="44503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527" r="-193389" b="-167286"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2191221" y="690866"/>
            <a:ext cx="4765341" cy="519380"/>
            <a:chOff x="0" y="0"/>
            <a:chExt cx="6353788" cy="692507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6353788" cy="692507"/>
              <a:chOff x="0" y="0"/>
              <a:chExt cx="1677797" cy="18286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677797" cy="182865"/>
              </a:xfrm>
              <a:custGeom>
                <a:avLst/>
                <a:gdLst/>
                <a:ahLst/>
                <a:cxnLst/>
                <a:rect l="l" t="t" r="r" b="b"/>
                <a:pathLst>
                  <a:path w="1677797" h="182865">
                    <a:moveTo>
                      <a:pt x="91433" y="0"/>
                    </a:moveTo>
                    <a:lnTo>
                      <a:pt x="1586365" y="0"/>
                    </a:lnTo>
                    <a:cubicBezTo>
                      <a:pt x="1636862" y="0"/>
                      <a:pt x="1677797" y="40936"/>
                      <a:pt x="1677797" y="91433"/>
                    </a:cubicBezTo>
                    <a:lnTo>
                      <a:pt x="1677797" y="91433"/>
                    </a:lnTo>
                    <a:cubicBezTo>
                      <a:pt x="1677797" y="141929"/>
                      <a:pt x="1636862" y="182865"/>
                      <a:pt x="1586365" y="182865"/>
                    </a:cubicBezTo>
                    <a:lnTo>
                      <a:pt x="91433" y="182865"/>
                    </a:lnTo>
                    <a:cubicBezTo>
                      <a:pt x="40936" y="182865"/>
                      <a:pt x="0" y="141929"/>
                      <a:pt x="0" y="91433"/>
                    </a:cubicBezTo>
                    <a:lnTo>
                      <a:pt x="0" y="91433"/>
                    </a:lnTo>
                    <a:cubicBezTo>
                      <a:pt x="0" y="40936"/>
                      <a:pt x="40936" y="0"/>
                      <a:pt x="91433" y="0"/>
                    </a:cubicBezTo>
                    <a:close/>
                  </a:path>
                </a:pathLst>
              </a:custGeom>
              <a:solidFill>
                <a:srgbClr val="487307"/>
              </a:solidFill>
              <a:ln w="3810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1677797" cy="22096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453673" y="-57150"/>
              <a:ext cx="5446443" cy="6554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66"/>
                </a:lnSpc>
                <a:spcBef>
                  <a:spcPct val="0"/>
                </a:spcBef>
              </a:pPr>
              <a:r>
                <a:rPr lang="en-US" sz="2976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Impacts and benefits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9143999" y="5019632"/>
            <a:ext cx="8610602" cy="46166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969"/>
              </a:lnSpc>
              <a:spcBef>
                <a:spcPct val="0"/>
              </a:spcBef>
            </a:pPr>
            <a:endParaRPr sz="2000" dirty="0" smtClean="0"/>
          </a:p>
          <a:p>
            <a:pPr algn="just">
              <a:lnSpc>
                <a:spcPts val="1969"/>
              </a:lnSpc>
              <a:spcBef>
                <a:spcPct val="0"/>
              </a:spcBef>
            </a:pPr>
            <a:r>
              <a:rPr lang="en-US" sz="2000" b="1" u="sng" dirty="0" smtClean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TAM (Total Addressable Market):-</a:t>
            </a:r>
            <a:r>
              <a:rPr lang="en-US" sz="20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India's total population of farmers is approximately 121 million.</a:t>
            </a:r>
          </a:p>
          <a:p>
            <a:pPr algn="just">
              <a:lnSpc>
                <a:spcPts val="1969"/>
              </a:lnSpc>
              <a:spcBef>
                <a:spcPct val="0"/>
              </a:spcBef>
            </a:pPr>
            <a:r>
              <a:rPr lang="en-US" sz="20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West Bengal's farmer population is approximately 8 million.</a:t>
            </a:r>
          </a:p>
          <a:p>
            <a:pPr algn="just">
              <a:lnSpc>
                <a:spcPts val="1969"/>
              </a:lnSpc>
              <a:spcBef>
                <a:spcPct val="0"/>
              </a:spcBef>
            </a:pPr>
            <a:r>
              <a:rPr lang="en-US" sz="20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Kolkata's population: Approximately 300 Thousand.</a:t>
            </a:r>
          </a:p>
          <a:p>
            <a:pPr algn="just">
              <a:lnSpc>
                <a:spcPts val="1969"/>
              </a:lnSpc>
              <a:spcBef>
                <a:spcPct val="0"/>
              </a:spcBef>
            </a:pPr>
            <a:r>
              <a:rPr lang="en-US" sz="20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Assuming that a significant portion of the population (around 20-30% ) may need our services, we have a TAM of around 24.2 million for India, 1.6 million for West Bengal, and 60,000 for Kolkata.</a:t>
            </a:r>
          </a:p>
          <a:p>
            <a:pPr algn="just">
              <a:lnSpc>
                <a:spcPts val="1969"/>
              </a:lnSpc>
              <a:spcBef>
                <a:spcPct val="0"/>
              </a:spcBef>
            </a:pPr>
            <a:r>
              <a:rPr lang="en-US" sz="2000" b="1" u="sng" dirty="0" smtClean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SOM (Serviceable Obtainable Market):-</a:t>
            </a:r>
            <a:r>
              <a:rPr lang="en-US" sz="2000" b="1" dirty="0" smtClean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India's SOM includes the farmers and the </a:t>
            </a:r>
            <a:r>
              <a:rPr lang="en-US" sz="2000" dirty="0" err="1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Agtech</a:t>
            </a:r>
            <a:r>
              <a:rPr lang="en-US" sz="20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companies, which is growing but may still be around 40-50% of the population, depending on the region.- In West Bengal and Kolkata, this percentage could be similar, resulting in a SOM of roughly 800-900 thousand for West Bengal and 150 thousand for Kolkata.</a:t>
            </a:r>
          </a:p>
          <a:p>
            <a:pPr algn="just">
              <a:lnSpc>
                <a:spcPts val="1969"/>
              </a:lnSpc>
              <a:spcBef>
                <a:spcPct val="0"/>
              </a:spcBef>
            </a:pPr>
            <a:r>
              <a:rPr lang="en-US" sz="2000" b="1" u="sng" dirty="0" smtClean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SAM (Serviceable Available Market):-</a:t>
            </a:r>
            <a:r>
              <a:rPr lang="en-US" sz="20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India's SAM includes those actively working farmers, estimated at around 5-10% of the population, which may vary.- In West Bengal and Kolkata, this percentage could be somewhat similar, resulting in a SAM of about 800k for West Bengal and 150k for Kolkata</a:t>
            </a:r>
          </a:p>
          <a:p>
            <a:pPr algn="just">
              <a:lnSpc>
                <a:spcPts val="1969"/>
              </a:lnSpc>
              <a:spcBef>
                <a:spcPct val="0"/>
              </a:spcBef>
            </a:pPr>
            <a:r>
              <a:rPr lang="en-US" sz="20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Niche: Farmers, researchers, agricultural-based companies etc.</a:t>
            </a:r>
            <a:endParaRPr lang="en-US" sz="2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" name="Freeform 10"/>
          <p:cNvSpPr/>
          <p:nvPr/>
        </p:nvSpPr>
        <p:spPr>
          <a:xfrm>
            <a:off x="396140" y="5208850"/>
            <a:ext cx="8443059" cy="4354251"/>
          </a:xfrm>
          <a:custGeom>
            <a:avLst/>
            <a:gdLst/>
            <a:ahLst/>
            <a:cxnLst/>
            <a:rect l="l" t="t" r="r" b="b"/>
            <a:pathLst>
              <a:path w="9918028" h="6260755">
                <a:moveTo>
                  <a:pt x="0" y="0"/>
                </a:moveTo>
                <a:lnTo>
                  <a:pt x="9918028" y="0"/>
                </a:lnTo>
                <a:lnTo>
                  <a:pt x="9918028" y="6260755"/>
                </a:lnTo>
                <a:lnTo>
                  <a:pt x="0" y="62607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4" name="TextBox 15"/>
          <p:cNvSpPr txBox="1"/>
          <p:nvPr/>
        </p:nvSpPr>
        <p:spPr>
          <a:xfrm>
            <a:off x="396141" y="4544566"/>
            <a:ext cx="9414609" cy="6642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76"/>
              </a:lnSpc>
            </a:pPr>
            <a:r>
              <a:rPr lang="en-US" sz="4300" b="1" dirty="0">
                <a:solidFill>
                  <a:srgbClr val="0B7E9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Are Others Meeting the Challenge?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8839200" y="876142"/>
            <a:ext cx="0" cy="8382158"/>
          </a:xfrm>
          <a:prstGeom prst="line">
            <a:avLst/>
          </a:prstGeom>
          <a:ln w="5715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2" name="Rectangle: Rounded Corners 1"/>
          <p:cNvSpPr/>
          <p:nvPr/>
        </p:nvSpPr>
        <p:spPr>
          <a:xfrm>
            <a:off x="13258800" y="690866"/>
            <a:ext cx="4495801" cy="1861834"/>
          </a:xfrm>
          <a:prstGeom prst="roundRect">
            <a:avLst/>
          </a:prstGeom>
          <a:solidFill>
            <a:srgbClr val="DE6A22"/>
          </a:solidFill>
          <a:ln>
            <a:solidFill>
              <a:srgbClr val="F44E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600" b="1" kern="100" dirty="0">
                <a:solidFill>
                  <a:srgbClr val="0D0D0D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BUILDING COST:</a:t>
            </a:r>
            <a:endParaRPr lang="en-IN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IN" sz="1600" b="1" kern="100" dirty="0">
                <a:solidFill>
                  <a:srgbClr val="0D0D0D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ONE DEW NODE - 46.48 US DOLLARS</a:t>
            </a:r>
            <a:endParaRPr lang="en-IN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IN" sz="1600" b="1" kern="100" dirty="0">
                <a:solidFill>
                  <a:srgbClr val="0D0D0D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DRONE - 464.8 US DOLLARS</a:t>
            </a:r>
            <a:endParaRPr lang="en-IN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IN" sz="1600" b="1" kern="100" dirty="0">
                <a:solidFill>
                  <a:srgbClr val="0D0D0D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SERVER MAINTAINING – 11.62 US DOLLARS/MONTH</a:t>
            </a:r>
            <a:endParaRPr lang="en-IN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Rectangle: Rounded Corners 1"/>
          <p:cNvSpPr/>
          <p:nvPr/>
        </p:nvSpPr>
        <p:spPr>
          <a:xfrm>
            <a:off x="13258800" y="2851328"/>
            <a:ext cx="4495801" cy="1957471"/>
          </a:xfrm>
          <a:prstGeom prst="roundRect">
            <a:avLst/>
          </a:prstGeom>
          <a:solidFill>
            <a:srgbClr val="DE6A22"/>
          </a:solidFill>
          <a:ln>
            <a:solidFill>
              <a:srgbClr val="F44E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600" b="1" kern="100" dirty="0">
                <a:solidFill>
                  <a:srgbClr val="124A62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SUBSCIPTION COST WITHOUT UAV:</a:t>
            </a:r>
            <a:endParaRPr lang="en-IN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IN" sz="1600" b="1" kern="100" dirty="0">
                <a:solidFill>
                  <a:srgbClr val="0D0D0D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34.86 US DOLLARS</a:t>
            </a:r>
            <a:endParaRPr lang="en-IN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600" b="1" kern="100" dirty="0">
                <a:solidFill>
                  <a:srgbClr val="124A62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SUBSCIPTION COST WITH UAV:</a:t>
            </a:r>
            <a:endParaRPr lang="en-IN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IN" sz="1600" b="1" kern="100" dirty="0">
                <a:solidFill>
                  <a:srgbClr val="0D0D0D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162.68 </a:t>
            </a:r>
            <a:r>
              <a:rPr lang="en-IN" sz="1600" b="1" kern="100">
                <a:solidFill>
                  <a:srgbClr val="0D0D0D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 </a:t>
            </a:r>
            <a:r>
              <a:rPr lang="en-IN" sz="1600" b="1" kern="100" smtClean="0">
                <a:solidFill>
                  <a:srgbClr val="0D0D0D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DOLLARS</a:t>
            </a:r>
            <a:endParaRPr lang="en-IN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8251" y="296406"/>
            <a:ext cx="6370387" cy="732294"/>
            <a:chOff x="0" y="0"/>
            <a:chExt cx="1677797" cy="1928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77797" cy="192868"/>
            </a:xfrm>
            <a:custGeom>
              <a:avLst/>
              <a:gdLst/>
              <a:ahLst/>
              <a:cxnLst/>
              <a:rect l="l" t="t" r="r" b="b"/>
              <a:pathLst>
                <a:path w="1677797" h="192868">
                  <a:moveTo>
                    <a:pt x="96434" y="0"/>
                  </a:moveTo>
                  <a:lnTo>
                    <a:pt x="1581364" y="0"/>
                  </a:lnTo>
                  <a:cubicBezTo>
                    <a:pt x="1634623" y="0"/>
                    <a:pt x="1677797" y="43175"/>
                    <a:pt x="1677797" y="96434"/>
                  </a:cubicBezTo>
                  <a:lnTo>
                    <a:pt x="1677797" y="96434"/>
                  </a:lnTo>
                  <a:cubicBezTo>
                    <a:pt x="1677797" y="149693"/>
                    <a:pt x="1634623" y="192868"/>
                    <a:pt x="1581364" y="192868"/>
                  </a:cubicBezTo>
                  <a:lnTo>
                    <a:pt x="96434" y="192868"/>
                  </a:lnTo>
                  <a:cubicBezTo>
                    <a:pt x="43175" y="192868"/>
                    <a:pt x="0" y="149693"/>
                    <a:pt x="0" y="96434"/>
                  </a:cubicBezTo>
                  <a:lnTo>
                    <a:pt x="0" y="96434"/>
                  </a:lnTo>
                  <a:cubicBezTo>
                    <a:pt x="0" y="43175"/>
                    <a:pt x="43175" y="0"/>
                    <a:pt x="96434" y="0"/>
                  </a:cubicBezTo>
                  <a:close/>
                </a:path>
              </a:pathLst>
            </a:custGeom>
            <a:solidFill>
              <a:srgbClr val="487307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1677797" cy="2690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1472051" y="7199215"/>
            <a:ext cx="6604888" cy="3087785"/>
          </a:xfrm>
          <a:custGeom>
            <a:avLst/>
            <a:gdLst/>
            <a:ahLst/>
            <a:cxnLst/>
            <a:rect l="l" t="t" r="r" b="b"/>
            <a:pathLst>
              <a:path w="6604888" h="3087785">
                <a:moveTo>
                  <a:pt x="0" y="0"/>
                </a:moveTo>
                <a:lnTo>
                  <a:pt x="6604888" y="0"/>
                </a:lnTo>
                <a:lnTo>
                  <a:pt x="6604888" y="3087785"/>
                </a:lnTo>
                <a:lnTo>
                  <a:pt x="0" y="3087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013780" y="1691016"/>
            <a:ext cx="5893220" cy="4734645"/>
          </a:xfrm>
          <a:custGeom>
            <a:avLst/>
            <a:gdLst/>
            <a:ahLst/>
            <a:cxnLst/>
            <a:rect l="l" t="t" r="r" b="b"/>
            <a:pathLst>
              <a:path w="4628186" h="4734645">
                <a:moveTo>
                  <a:pt x="0" y="0"/>
                </a:moveTo>
                <a:lnTo>
                  <a:pt x="4628186" y="0"/>
                </a:lnTo>
                <a:lnTo>
                  <a:pt x="4628186" y="4734645"/>
                </a:lnTo>
                <a:lnTo>
                  <a:pt x="0" y="47346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2428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553109" y="144006"/>
            <a:ext cx="5460671" cy="756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70"/>
              </a:lnSpc>
              <a:spcBef>
                <a:spcPct val="0"/>
              </a:spcBef>
            </a:pPr>
            <a:r>
              <a:rPr lang="en-US" sz="397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and Results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535150" y="6244686"/>
            <a:ext cx="4247912" cy="858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228"/>
              </a:lnSpc>
              <a:spcBef>
                <a:spcPct val="0"/>
              </a:spcBef>
            </a:pPr>
            <a:r>
              <a:rPr lang="en-US" sz="4448" b="1">
                <a:solidFill>
                  <a:srgbClr val="7F813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Our assistant App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107277" y="1049753"/>
            <a:ext cx="3675861" cy="546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29"/>
              </a:lnSpc>
              <a:spcBef>
                <a:spcPct val="0"/>
              </a:spcBef>
            </a:pPr>
            <a:r>
              <a:rPr lang="en-US" sz="2878" b="1">
                <a:solidFill>
                  <a:srgbClr val="7F813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Outputs &amp; Results :</a:t>
            </a:r>
          </a:p>
        </p:txBody>
      </p:sp>
      <p:pic>
        <p:nvPicPr>
          <p:cNvPr id="13" name="Picture 1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10069" t="10200" r="9787"/>
          <a:stretch>
            <a:fillRect/>
          </a:stretch>
        </p:blipFill>
        <p:spPr>
          <a:xfrm>
            <a:off x="452297" y="1957718"/>
            <a:ext cx="10977277" cy="691874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452297" y="1192628"/>
            <a:ext cx="6100813" cy="748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5"/>
              </a:lnSpc>
            </a:pPr>
            <a:r>
              <a:rPr lang="en-US" sz="5156" b="1">
                <a:solidFill>
                  <a:srgbClr val="9D88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Prototype Testing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8083" y="8861252"/>
            <a:ext cx="10765704" cy="754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2"/>
              </a:lnSpc>
              <a:spcBef>
                <a:spcPct val="0"/>
              </a:spcBef>
            </a:pPr>
            <a:r>
              <a:rPr lang="en-US" sz="1416">
                <a:solidFill>
                  <a:srgbClr val="48730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prototype was tested under actual farm conditions, delivering exceptional results and exceeding expectations. We tackled initial challenges and fine-tuned the design, ensuring optimal performance. This solution is now primed for scalability, offering a reliable, high-impact opportunity for investors.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337</Words>
  <Application>Microsoft Office PowerPoint</Application>
  <PresentationFormat>Custom</PresentationFormat>
  <Paragraphs>31</Paragraphs>
  <Slides>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Arial</vt:lpstr>
      <vt:lpstr>Canva Sans</vt:lpstr>
      <vt:lpstr>Symbol</vt:lpstr>
      <vt:lpstr>Times New Roman</vt:lpstr>
      <vt:lpstr>Arial Black</vt:lpstr>
      <vt:lpstr>Times New Roman Bold</vt:lpstr>
      <vt:lpstr>Times New Roman Italics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PROPOSAL</dc:title>
  <dc:creator>Debajyoti Mitra</dc:creator>
  <cp:lastModifiedBy>Pratyusha Chatterjee</cp:lastModifiedBy>
  <cp:revision>10</cp:revision>
  <dcterms:created xsi:type="dcterms:W3CDTF">2006-08-16T00:00:00Z</dcterms:created>
  <dcterms:modified xsi:type="dcterms:W3CDTF">2025-06-16T07:04:40Z</dcterms:modified>
  <dc:identifier>DAGbZ1cm-y0</dc:identifier>
</cp:coreProperties>
</file>