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16.jpg" ContentType="image/p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7" r:id="rId9"/>
    <p:sldId id="268" r:id="rId10"/>
    <p:sldId id="263" r:id="rId11"/>
    <p:sldId id="264" r:id="rId12"/>
    <p:sldId id="265" r:id="rId13"/>
    <p:sldId id="266" r:id="rId14"/>
  </p:sldIdLst>
  <p:sldSz cx="18288000" cy="10287000"/>
  <p:notesSz cx="6858000" cy="9144000"/>
  <p:embeddedFontLst>
    <p:embeddedFont>
      <p:font typeface="Montserrat Medium" panose="020B0604020202020204" charset="0"/>
      <p:regular r:id="rId16"/>
      <p:bold r:id="rId17"/>
      <p:italic r:id="rId18"/>
      <p:boldItalic r:id="rId19"/>
    </p:embeddedFont>
    <p:embeddedFont>
      <p:font typeface="Calibri Light" panose="020F0302020204030204" pitchFamily="34" charset="0"/>
      <p:regular r:id="rId20"/>
      <p:italic r:id="rId21"/>
    </p:embeddedFont>
    <p:embeddedFont>
      <p:font typeface="Montserrat SemiBold" panose="020B0604020202020204" charset="0"/>
      <p:regular r:id="rId22"/>
      <p:bold r:id="rId23"/>
      <p:italic r:id="rId24"/>
      <p:boldItalic r:id="rId25"/>
    </p:embeddedFont>
    <p:embeddedFont>
      <p:font typeface="Agency FB" panose="020B0503020202020204" pitchFamily="3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5FOehkzHXv6B91td8cKoOoFdk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47" d="100"/>
          <a:sy n="47" d="100"/>
        </p:scale>
        <p:origin x="678" y="60"/>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5326133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94442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e69a03267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1e69a03267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5275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0288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12108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75721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18861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79971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6094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1474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92285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33775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1" name="Google Shape;11;p12"/>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 name="Google Shape;12;p1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5" name="Google Shape;15;p13"/>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6" name="Google Shape;16;p1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9" name="Google Shape;19;p1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2" name="Google Shape;22;p15"/>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3" name="Google Shape;23;p15"/>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4" name="Google Shape;24;p1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7" name="Google Shape;27;p1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0" name="Google Shape;30;p17"/>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31" name="Google Shape;31;p1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34" name="Google Shape;34;p1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38" name="Google Shape;38;p19"/>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19"/>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40" name="Google Shape;40;p1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43" name="Google Shape;43;p2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46" name="Google Shape;46;p21"/>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47" name="Google Shape;47;p2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5" name="Google Shape;55;p1"/>
          <p:cNvSpPr txBox="1"/>
          <p:nvPr/>
        </p:nvSpPr>
        <p:spPr>
          <a:xfrm>
            <a:off x="6553740" y="1872123"/>
            <a:ext cx="9478200" cy="646300"/>
          </a:xfrm>
          <a:prstGeom prst="rect">
            <a:avLst/>
          </a:prstGeom>
          <a:noFill/>
          <a:ln>
            <a:noFill/>
          </a:ln>
        </p:spPr>
        <p:txBody>
          <a:bodyPr spcFirstLastPara="1" wrap="square" lIns="91425" tIns="91425" rIns="91425" bIns="91425" anchor="t" anchorCtr="0">
            <a:spAutoFit/>
          </a:bodyPr>
          <a:lstStyle/>
          <a:p>
            <a:pPr lvl="0" algn="just">
              <a:buSzPts val="4000"/>
            </a:pPr>
            <a:r>
              <a:rPr lang="en" sz="3000" b="1" i="0" u="sng" strike="noStrike" cap="none" dirty="0">
                <a:solidFill>
                  <a:schemeClr val="dk1"/>
                </a:solidFill>
                <a:sym typeface="Arial"/>
              </a:rPr>
              <a:t>Team Name</a:t>
            </a:r>
            <a:r>
              <a:rPr lang="en" sz="3000" b="1" i="0" strike="noStrike" cap="none" dirty="0">
                <a:solidFill>
                  <a:schemeClr val="dk1"/>
                </a:solidFill>
                <a:sym typeface="Arial"/>
              </a:rPr>
              <a:t>:  </a:t>
            </a:r>
            <a:r>
              <a:rPr lang="en-IN" sz="3000" b="1" dirty="0" err="1"/>
              <a:t>AgriVision</a:t>
            </a:r>
            <a:endParaRPr sz="3000" b="1" i="0" u="none" strike="noStrike" cap="none" dirty="0">
              <a:solidFill>
                <a:srgbClr val="000000"/>
              </a:solidFill>
              <a:sym typeface="Arial"/>
            </a:endParaRPr>
          </a:p>
        </p:txBody>
      </p:sp>
      <p:sp>
        <p:nvSpPr>
          <p:cNvPr id="56" name="Google Shape;56;p1"/>
          <p:cNvSpPr txBox="1"/>
          <p:nvPr/>
        </p:nvSpPr>
        <p:spPr>
          <a:xfrm>
            <a:off x="6969300" y="7115188"/>
            <a:ext cx="5416200" cy="646300"/>
          </a:xfrm>
          <a:prstGeom prst="rect">
            <a:avLst/>
          </a:prstGeom>
          <a:noFill/>
          <a:ln>
            <a:noFill/>
          </a:ln>
        </p:spPr>
        <p:txBody>
          <a:bodyPr spcFirstLastPara="1" wrap="square" lIns="91425" tIns="91425" rIns="91425" bIns="91425" anchor="t" anchorCtr="0">
            <a:spAutoFit/>
          </a:bodyPr>
          <a:lstStyle/>
          <a:p>
            <a:pPr algn="just">
              <a:buSzPts val="4000"/>
            </a:pPr>
            <a:r>
              <a:rPr lang="en-IN" sz="3000" b="1" u="sng" dirty="0"/>
              <a:t>Track</a:t>
            </a:r>
            <a:r>
              <a:rPr lang="en-IN" sz="3000" b="1" dirty="0"/>
              <a:t>: Maker Fair</a:t>
            </a:r>
            <a:endParaRPr lang="en-IN" sz="3000" dirty="0"/>
          </a:p>
        </p:txBody>
      </p:sp>
      <p:sp>
        <p:nvSpPr>
          <p:cNvPr id="57" name="Google Shape;57;p1"/>
          <p:cNvSpPr txBox="1"/>
          <p:nvPr/>
        </p:nvSpPr>
        <p:spPr>
          <a:xfrm>
            <a:off x="1983105" y="8193270"/>
            <a:ext cx="13201650" cy="1338798"/>
          </a:xfrm>
          <a:prstGeom prst="rect">
            <a:avLst/>
          </a:prstGeom>
          <a:noFill/>
          <a:ln>
            <a:noFill/>
          </a:ln>
        </p:spPr>
        <p:txBody>
          <a:bodyPr spcFirstLastPara="1" wrap="square" lIns="91425" tIns="91425" rIns="91425" bIns="91425" anchor="t" anchorCtr="0">
            <a:spAutoFit/>
          </a:bodyPr>
          <a:lstStyle/>
          <a:p>
            <a:pPr lvl="0" algn="just">
              <a:buSzPts val="4000"/>
            </a:pPr>
            <a:r>
              <a:rPr lang="en-US" sz="2500" b="1" u="sng" dirty="0">
                <a:solidFill>
                  <a:schemeClr val="dk1"/>
                </a:solidFill>
              </a:rPr>
              <a:t>SDG Goal Focused</a:t>
            </a:r>
            <a:r>
              <a:rPr lang="en-US" sz="2500" b="1" dirty="0">
                <a:solidFill>
                  <a:schemeClr val="dk1"/>
                </a:solidFill>
              </a:rPr>
              <a:t>: Zero Hunger, Good Health and Well-being, Industry, Innovation, and Infrastructure, Responsible Consumption and Production, Climate Action, Life on Land</a:t>
            </a:r>
            <a:endParaRPr lang="en-US" sz="2500" dirty="0"/>
          </a:p>
        </p:txBody>
      </p:sp>
      <p:sp>
        <p:nvSpPr>
          <p:cNvPr id="59" name="Google Shape;59;p1"/>
          <p:cNvSpPr txBox="1"/>
          <p:nvPr/>
        </p:nvSpPr>
        <p:spPr>
          <a:xfrm>
            <a:off x="518160" y="3573002"/>
            <a:ext cx="16413480" cy="2646848"/>
          </a:xfrm>
          <a:prstGeom prst="rect">
            <a:avLst/>
          </a:prstGeom>
          <a:noFill/>
          <a:ln>
            <a:noFill/>
          </a:ln>
        </p:spPr>
        <p:txBody>
          <a:bodyPr spcFirstLastPara="1" wrap="square" lIns="91425" tIns="91425" rIns="91425" bIns="91425" anchor="t" anchorCtr="0">
            <a:spAutoFit/>
          </a:bodyPr>
          <a:lstStyle/>
          <a:p>
            <a:pPr lvl="0" algn="ctr">
              <a:buClr>
                <a:schemeClr val="dk1"/>
              </a:buClr>
              <a:buSzPts val="4000"/>
            </a:pPr>
            <a:r>
              <a:rPr lang="en" sz="8000" b="1" dirty="0">
                <a:solidFill>
                  <a:schemeClr val="dk1"/>
                </a:solidFill>
                <a:latin typeface="+mj-lt"/>
                <a:ea typeface="Calibri Light" panose="020F0302020204030204" pitchFamily="34" charset="0"/>
                <a:cs typeface="Calibri Light" panose="020F0302020204030204" pitchFamily="34" charset="0"/>
              </a:rPr>
              <a:t>Project Name: </a:t>
            </a:r>
            <a:r>
              <a:rPr lang="en-IN" sz="8000" b="1" dirty="0">
                <a:latin typeface="+mj-lt"/>
                <a:ea typeface="Calibri Light" panose="020F0302020204030204" pitchFamily="34" charset="0"/>
                <a:cs typeface="Calibri Light" panose="020F0302020204030204" pitchFamily="34" charset="0"/>
              </a:rPr>
              <a:t>Intelligent Farm Surveillance System</a:t>
            </a:r>
            <a:endParaRPr sz="8000" b="1" dirty="0">
              <a:latin typeface="+mj-lt"/>
              <a:ea typeface="Calibri Light" panose="020F0302020204030204" pitchFamily="34" charset="0"/>
              <a:cs typeface="Calibri Light" panose="020F0302020204030204" pitchFamily="34" charset="0"/>
            </a:endParaRPr>
          </a:p>
        </p:txBody>
      </p:sp>
      <p:pic>
        <p:nvPicPr>
          <p:cNvPr id="60" name="Google Shape;60;p1"/>
          <p:cNvPicPr preferRelativeResize="0"/>
          <p:nvPr/>
        </p:nvPicPr>
        <p:blipFill>
          <a:blip r:embed="rId4">
            <a:alphaModFix/>
          </a:blip>
          <a:stretch>
            <a:fillRect/>
          </a:stretch>
        </p:blipFill>
        <p:spPr>
          <a:xfrm>
            <a:off x="13555400" y="152400"/>
            <a:ext cx="3612700" cy="1300575"/>
          </a:xfrm>
          <a:prstGeom prst="rect">
            <a:avLst/>
          </a:prstGeom>
          <a:noFill/>
          <a:ln>
            <a:noFill/>
          </a:ln>
        </p:spPr>
      </p:pic>
      <p:pic>
        <p:nvPicPr>
          <p:cNvPr id="8" name="Google Shape;54;p1"/>
          <p:cNvPicPr preferRelativeResize="0"/>
          <p:nvPr/>
        </p:nvPicPr>
        <p:blipFill rotWithShape="1">
          <a:blip r:embed="rId3">
            <a:alphaModFix/>
          </a:blip>
          <a:srcRect/>
          <a:stretch/>
        </p:blipFill>
        <p:spPr>
          <a:xfrm>
            <a:off x="152400" y="152400"/>
            <a:ext cx="18288000" cy="10287000"/>
          </a:xfrm>
          <a:prstGeom prst="rect">
            <a:avLst/>
          </a:prstGeom>
          <a:noFill/>
          <a:ln>
            <a:noFill/>
          </a:ln>
        </p:spPr>
      </p:pic>
      <p:sp>
        <p:nvSpPr>
          <p:cNvPr id="9" name="Google Shape;55;p1"/>
          <p:cNvSpPr txBox="1"/>
          <p:nvPr/>
        </p:nvSpPr>
        <p:spPr>
          <a:xfrm>
            <a:off x="4557300" y="2657274"/>
            <a:ext cx="9478200" cy="923299"/>
          </a:xfrm>
          <a:prstGeom prst="rect">
            <a:avLst/>
          </a:prstGeom>
          <a:noFill/>
          <a:ln>
            <a:noFill/>
          </a:ln>
        </p:spPr>
        <p:txBody>
          <a:bodyPr spcFirstLastPara="1" wrap="square" lIns="91425" tIns="91425" rIns="91425" bIns="91425" anchor="t" anchorCtr="0">
            <a:spAutoFit/>
          </a:bodyPr>
          <a:lstStyle/>
          <a:p>
            <a:pPr lvl="0" algn="just">
              <a:buSzPts val="4000"/>
            </a:pPr>
            <a:r>
              <a:rPr lang="en" sz="4000" b="1" i="0" u="none" strike="noStrike" cap="none" dirty="0">
                <a:solidFill>
                  <a:schemeClr val="dk1"/>
                </a:solidFill>
                <a:sym typeface="Arial"/>
              </a:rPr>
              <a:t>Team Name:  </a:t>
            </a:r>
            <a:r>
              <a:rPr lang="en-IN" sz="4800" b="1" dirty="0" err="1"/>
              <a:t>AgriVision</a:t>
            </a:r>
            <a:endParaRPr sz="4000" b="1" i="0" u="none" strike="noStrike" cap="none" dirty="0">
              <a:solidFill>
                <a:srgbClr val="000000"/>
              </a:solidFill>
              <a:sym typeface="Arial"/>
            </a:endParaRPr>
          </a:p>
        </p:txBody>
      </p:sp>
      <p:sp>
        <p:nvSpPr>
          <p:cNvPr id="10" name="Google Shape;56;p1"/>
          <p:cNvSpPr txBox="1"/>
          <p:nvPr/>
        </p:nvSpPr>
        <p:spPr>
          <a:xfrm>
            <a:off x="6588300" y="4957275"/>
            <a:ext cx="5416200" cy="800400"/>
          </a:xfrm>
          <a:prstGeom prst="rect">
            <a:avLst/>
          </a:prstGeom>
          <a:noFill/>
          <a:ln>
            <a:noFill/>
          </a:ln>
        </p:spPr>
        <p:txBody>
          <a:bodyPr spcFirstLastPara="1" wrap="square" lIns="91425" tIns="91425" rIns="91425" bIns="91425" anchor="t" anchorCtr="0">
            <a:spAutoFit/>
          </a:bodyPr>
          <a:lstStyle/>
          <a:p>
            <a:pPr algn="just">
              <a:buSzPts val="4000"/>
            </a:pPr>
            <a:r>
              <a:rPr lang="en-IN" sz="4000" b="1" dirty="0"/>
              <a:t>Track: Maker Fair</a:t>
            </a:r>
            <a:endParaRPr lang="en-IN" sz="4000" dirty="0"/>
          </a:p>
        </p:txBody>
      </p:sp>
      <p:sp>
        <p:nvSpPr>
          <p:cNvPr id="11" name="Google Shape;57;p1"/>
          <p:cNvSpPr txBox="1"/>
          <p:nvPr/>
        </p:nvSpPr>
        <p:spPr>
          <a:xfrm>
            <a:off x="2854657" y="6285674"/>
            <a:ext cx="11937094" cy="2646848"/>
          </a:xfrm>
          <a:prstGeom prst="rect">
            <a:avLst/>
          </a:prstGeom>
          <a:noFill/>
          <a:ln>
            <a:noFill/>
          </a:ln>
        </p:spPr>
        <p:txBody>
          <a:bodyPr spcFirstLastPara="1" wrap="square" lIns="91425" tIns="91425" rIns="91425" bIns="91425" anchor="t" anchorCtr="0">
            <a:spAutoFit/>
          </a:bodyPr>
          <a:lstStyle/>
          <a:p>
            <a:pPr lvl="0" algn="just">
              <a:buSzPts val="4000"/>
            </a:pPr>
            <a:r>
              <a:rPr lang="en-US" sz="4000" b="1" dirty="0">
                <a:solidFill>
                  <a:schemeClr val="dk1"/>
                </a:solidFill>
              </a:rPr>
              <a:t>SDG Goal Focused: Zero Hunger, Good Health and Well-being, Industry, Innovation, and Infrastructure, Responsible Consumption and Production, Climate Action, Life on Land</a:t>
            </a:r>
            <a:endParaRPr lang="en-US" sz="4000" dirty="0"/>
          </a:p>
        </p:txBody>
      </p:sp>
      <p:sp>
        <p:nvSpPr>
          <p:cNvPr id="12" name="Google Shape;59;p1"/>
          <p:cNvSpPr txBox="1"/>
          <p:nvPr/>
        </p:nvSpPr>
        <p:spPr>
          <a:xfrm>
            <a:off x="2647950" y="3924300"/>
            <a:ext cx="13315950" cy="800189"/>
          </a:xfrm>
          <a:prstGeom prst="rect">
            <a:avLst/>
          </a:prstGeom>
          <a:noFill/>
          <a:ln>
            <a:noFill/>
          </a:ln>
        </p:spPr>
        <p:txBody>
          <a:bodyPr spcFirstLastPara="1" wrap="square" lIns="91425" tIns="91425" rIns="91425" bIns="91425" anchor="t" anchorCtr="0">
            <a:spAutoFit/>
          </a:bodyPr>
          <a:lstStyle/>
          <a:p>
            <a:pPr lvl="0" algn="just">
              <a:buClr>
                <a:schemeClr val="dk1"/>
              </a:buClr>
              <a:buSzPts val="4000"/>
            </a:pPr>
            <a:r>
              <a:rPr lang="en" sz="4000" b="1" dirty="0">
                <a:solidFill>
                  <a:schemeClr val="dk1"/>
                </a:solidFill>
              </a:rPr>
              <a:t>Project Name: </a:t>
            </a:r>
            <a:r>
              <a:rPr lang="en-IN" sz="4000" b="1" dirty="0"/>
              <a:t>Intelligent Farm Surveillance System</a:t>
            </a:r>
            <a:endParaRPr sz="4000" b="1" dirty="0"/>
          </a:p>
        </p:txBody>
      </p:sp>
      <p:pic>
        <p:nvPicPr>
          <p:cNvPr id="13" name="Google Shape;60;p1"/>
          <p:cNvPicPr preferRelativeResize="0"/>
          <p:nvPr/>
        </p:nvPicPr>
        <p:blipFill>
          <a:blip r:embed="rId4">
            <a:alphaModFix/>
          </a:blip>
          <a:stretch>
            <a:fillRect/>
          </a:stretch>
        </p:blipFill>
        <p:spPr>
          <a:xfrm>
            <a:off x="13707800" y="304800"/>
            <a:ext cx="3612700" cy="130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g1e69a032673_0_2"/>
          <p:cNvPicPr preferRelativeResize="0"/>
          <p:nvPr/>
        </p:nvPicPr>
        <p:blipFill rotWithShape="1">
          <a:blip r:embed="rId3">
            <a:alphaModFix/>
          </a:blip>
          <a:srcRect/>
          <a:stretch/>
        </p:blipFill>
        <p:spPr>
          <a:xfrm>
            <a:off x="0" y="49589"/>
            <a:ext cx="18288000" cy="10287000"/>
          </a:xfrm>
          <a:prstGeom prst="rect">
            <a:avLst/>
          </a:prstGeom>
          <a:noFill/>
          <a:ln>
            <a:noFill/>
          </a:ln>
        </p:spPr>
      </p:pic>
      <p:sp>
        <p:nvSpPr>
          <p:cNvPr id="66" name="Google Shape;66;g1e69a032673_0_2"/>
          <p:cNvSpPr txBox="1"/>
          <p:nvPr/>
        </p:nvSpPr>
        <p:spPr>
          <a:xfrm>
            <a:off x="6030185" y="463416"/>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dirty="0">
                <a:solidFill>
                  <a:schemeClr val="dk1"/>
                </a:solidFill>
              </a:rPr>
              <a:t>Team Members</a:t>
            </a:r>
            <a:endParaRPr sz="4000" b="1" i="0" u="none" strike="noStrike" cap="none" dirty="0">
              <a:solidFill>
                <a:schemeClr val="dk1"/>
              </a:solidFill>
              <a:latin typeface="Arial"/>
              <a:ea typeface="Arial"/>
              <a:cs typeface="Arial"/>
              <a:sym typeface="Arial"/>
            </a:endParaRPr>
          </a:p>
        </p:txBody>
      </p:sp>
      <p:sp>
        <p:nvSpPr>
          <p:cNvPr id="67" name="Google Shape;67;g1e69a032673_0_2"/>
          <p:cNvSpPr txBox="1"/>
          <p:nvPr/>
        </p:nvSpPr>
        <p:spPr>
          <a:xfrm>
            <a:off x="4927669" y="7529661"/>
            <a:ext cx="7071300" cy="181585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 sz="2800" b="1" dirty="0">
                <a:solidFill>
                  <a:schemeClr val="dk1"/>
                </a:solidFill>
              </a:rPr>
              <a:t>Acknowledgement</a:t>
            </a:r>
          </a:p>
          <a:p>
            <a:pPr marL="0" marR="0" lvl="0" indent="0" algn="ctr" rtl="0">
              <a:lnSpc>
                <a:spcPct val="100000"/>
              </a:lnSpc>
              <a:spcBef>
                <a:spcPts val="0"/>
              </a:spcBef>
              <a:spcAft>
                <a:spcPts val="0"/>
              </a:spcAft>
              <a:buClr>
                <a:srgbClr val="000000"/>
              </a:buClr>
              <a:buSzPts val="3000"/>
              <a:buFont typeface="Arial"/>
              <a:buNone/>
            </a:pPr>
            <a:r>
              <a:rPr lang="en" sz="2600" b="1" i="0" u="none" strike="noStrike" cap="none" dirty="0">
                <a:solidFill>
                  <a:schemeClr val="dk1"/>
                </a:solidFill>
                <a:latin typeface="Arial"/>
                <a:ea typeface="Arial"/>
                <a:cs typeface="Arial"/>
                <a:sym typeface="Arial"/>
              </a:rPr>
              <a:t>Institute of Enginerring and Mangement</a:t>
            </a:r>
          </a:p>
          <a:p>
            <a:pPr marL="0" marR="0" lvl="0" indent="0" algn="ctr" rtl="0">
              <a:lnSpc>
                <a:spcPct val="100000"/>
              </a:lnSpc>
              <a:spcBef>
                <a:spcPts val="0"/>
              </a:spcBef>
              <a:spcAft>
                <a:spcPts val="0"/>
              </a:spcAft>
              <a:buClr>
                <a:srgbClr val="000000"/>
              </a:buClr>
              <a:buSzPts val="3000"/>
              <a:buFont typeface="Arial"/>
              <a:buNone/>
            </a:pPr>
            <a:r>
              <a:rPr lang="en" sz="2600" b="1" dirty="0">
                <a:solidFill>
                  <a:schemeClr val="dk1"/>
                </a:solidFill>
              </a:rPr>
              <a:t>University of Engineering and Management</a:t>
            </a:r>
          </a:p>
          <a:p>
            <a:pPr marL="0" marR="0" lvl="0" indent="0" algn="ctr" rtl="0">
              <a:lnSpc>
                <a:spcPct val="100000"/>
              </a:lnSpc>
              <a:spcBef>
                <a:spcPts val="0"/>
              </a:spcBef>
              <a:spcAft>
                <a:spcPts val="0"/>
              </a:spcAft>
              <a:buClr>
                <a:srgbClr val="000000"/>
              </a:buClr>
              <a:buSzPts val="3000"/>
              <a:buFont typeface="Arial"/>
              <a:buNone/>
            </a:pPr>
            <a:r>
              <a:rPr lang="en" sz="2600" b="1" i="0" u="none" strike="noStrike" cap="none" dirty="0">
                <a:solidFill>
                  <a:schemeClr val="dk1"/>
                </a:solidFill>
                <a:latin typeface="Arial"/>
                <a:ea typeface="Arial"/>
                <a:cs typeface="Arial"/>
                <a:sym typeface="Arial"/>
              </a:rPr>
              <a:t>Kolkata, India</a:t>
            </a:r>
            <a:endParaRPr sz="2600" b="0" i="0" u="none" strike="noStrike" cap="none" dirty="0">
              <a:solidFill>
                <a:srgbClr val="000000"/>
              </a:solidFill>
              <a:latin typeface="Arial"/>
              <a:ea typeface="Arial"/>
              <a:cs typeface="Arial"/>
              <a:sym typeface="Arial"/>
            </a:endParaRPr>
          </a:p>
        </p:txBody>
      </p:sp>
      <p:sp>
        <p:nvSpPr>
          <p:cNvPr id="68" name="Google Shape;68;g1e69a032673_0_2"/>
          <p:cNvSpPr txBox="1"/>
          <p:nvPr/>
        </p:nvSpPr>
        <p:spPr>
          <a:xfrm>
            <a:off x="1759400" y="1910450"/>
            <a:ext cx="167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69" name="Google Shape;69;g1e69a032673_0_2"/>
          <p:cNvSpPr txBox="1"/>
          <p:nvPr/>
        </p:nvSpPr>
        <p:spPr>
          <a:xfrm>
            <a:off x="6955650" y="4468625"/>
            <a:ext cx="4376700"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lang="en-US" sz="1400" dirty="0">
              <a:latin typeface="Times New Roman" panose="02020603050405020304" pitchFamily="18" charset="0"/>
              <a:ea typeface="Montserrat Medium"/>
              <a:cs typeface="Times New Roman" panose="02020603050405020304" pitchFamily="18" charset="0"/>
              <a:sym typeface="Montserrat Medium"/>
            </a:endParaRPr>
          </a:p>
        </p:txBody>
      </p:sp>
      <p:sp>
        <p:nvSpPr>
          <p:cNvPr id="72" name="Google Shape;72;g1e69a032673_0_2"/>
          <p:cNvSpPr txBox="1"/>
          <p:nvPr/>
        </p:nvSpPr>
        <p:spPr>
          <a:xfrm>
            <a:off x="9379050" y="8154025"/>
            <a:ext cx="2857500"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b="0" i="0" u="none" strike="noStrike" cap="none" dirty="0">
              <a:solidFill>
                <a:srgbClr val="000000"/>
              </a:solidFill>
              <a:latin typeface="Montserrat Medium"/>
              <a:ea typeface="Montserrat Medium"/>
              <a:cs typeface="Montserrat Medium"/>
              <a:sym typeface="Montserrat Medium"/>
            </a:endParaRPr>
          </a:p>
        </p:txBody>
      </p:sp>
      <p:sp>
        <p:nvSpPr>
          <p:cNvPr id="73" name="Google Shape;73;g1e69a032673_0_2"/>
          <p:cNvSpPr txBox="1"/>
          <p:nvPr/>
        </p:nvSpPr>
        <p:spPr>
          <a:xfrm>
            <a:off x="12932800" y="8154025"/>
            <a:ext cx="2857500"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b="0" i="0" u="none" strike="noStrike" cap="none" dirty="0">
              <a:solidFill>
                <a:srgbClr val="000000"/>
              </a:solidFill>
              <a:latin typeface="Montserrat Medium"/>
              <a:ea typeface="Montserrat Medium"/>
              <a:cs typeface="Montserrat Medium"/>
              <a:sym typeface="Montserrat Medium"/>
            </a:endParaRPr>
          </a:p>
        </p:txBody>
      </p:sp>
      <p:pic>
        <p:nvPicPr>
          <p:cNvPr id="79" name="Google Shape;79;g1e69a032673_0_2"/>
          <p:cNvPicPr preferRelativeResize="0"/>
          <p:nvPr/>
        </p:nvPicPr>
        <p:blipFill>
          <a:blip r:embed="rId4">
            <a:alphaModFix/>
          </a:blip>
          <a:stretch>
            <a:fillRect/>
          </a:stretch>
        </p:blipFill>
        <p:spPr>
          <a:xfrm>
            <a:off x="13555400" y="152400"/>
            <a:ext cx="3612700" cy="1300575"/>
          </a:xfrm>
          <a:prstGeom prst="rect">
            <a:avLst/>
          </a:prstGeom>
          <a:noFill/>
          <a:ln>
            <a:noFill/>
          </a:ln>
        </p:spPr>
      </p:pic>
      <p:pic>
        <p:nvPicPr>
          <p:cNvPr id="5" name="Google Shape;78;g1e69a032673_0_2">
            <a:extLst>
              <a:ext uri="{FF2B5EF4-FFF2-40B4-BE49-F238E27FC236}">
                <a16:creationId xmlns="" xmlns:a16="http://schemas.microsoft.com/office/drawing/2014/main" id="{145C9E48-279A-920B-0C17-B556782E94D3}"/>
              </a:ext>
            </a:extLst>
          </p:cNvPr>
          <p:cNvPicPr preferRelativeResize="0"/>
          <p:nvPr/>
        </p:nvPicPr>
        <p:blipFill>
          <a:blip r:embed="rId5">
            <a:extLst>
              <a:ext uri="{28A0092B-C50C-407E-A947-70E740481C1C}">
                <a14:useLocalDpi xmlns:a14="http://schemas.microsoft.com/office/drawing/2010/main" val="0"/>
              </a:ext>
            </a:extLst>
          </a:blip>
          <a:stretch>
            <a:fillRect/>
          </a:stretch>
        </p:blipFill>
        <p:spPr>
          <a:xfrm>
            <a:off x="2407692" y="3222899"/>
            <a:ext cx="2078439" cy="26004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nvGrpSpPr>
          <p:cNvPr id="8" name="Group 7">
            <a:extLst>
              <a:ext uri="{FF2B5EF4-FFF2-40B4-BE49-F238E27FC236}">
                <a16:creationId xmlns="" xmlns:a16="http://schemas.microsoft.com/office/drawing/2014/main" id="{7D04C359-2A09-6D6C-ECE1-68158BC6FA4D}"/>
              </a:ext>
            </a:extLst>
          </p:cNvPr>
          <p:cNvGrpSpPr/>
          <p:nvPr/>
        </p:nvGrpSpPr>
        <p:grpSpPr>
          <a:xfrm>
            <a:off x="6274970" y="1188602"/>
            <a:ext cx="4435515" cy="4811158"/>
            <a:chOff x="6896835" y="1169975"/>
            <a:chExt cx="4435515" cy="4811158"/>
          </a:xfrm>
        </p:grpSpPr>
        <p:pic>
          <p:nvPicPr>
            <p:cNvPr id="3" name="Picture 2">
              <a:extLst>
                <a:ext uri="{FF2B5EF4-FFF2-40B4-BE49-F238E27FC236}">
                  <a16:creationId xmlns="" xmlns:a16="http://schemas.microsoft.com/office/drawing/2014/main" id="{9627E17D-0D00-2EE7-96FA-0F01268EBDA0}"/>
                </a:ext>
              </a:extLst>
            </p:cNvPr>
            <p:cNvPicPr>
              <a:picLocks noChangeAspect="1"/>
            </p:cNvPicPr>
            <p:nvPr/>
          </p:nvPicPr>
          <p:blipFill>
            <a:blip r:embed="rId6"/>
            <a:stretch>
              <a:fillRect/>
            </a:stretch>
          </p:blipFill>
          <p:spPr>
            <a:xfrm>
              <a:off x="7913356" y="1169975"/>
              <a:ext cx="2461288" cy="301397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Rectangle 1">
              <a:extLst>
                <a:ext uri="{FF2B5EF4-FFF2-40B4-BE49-F238E27FC236}">
                  <a16:creationId xmlns="" xmlns:a16="http://schemas.microsoft.com/office/drawing/2014/main" id="{3C00A6CB-0230-EABC-D81D-A83C8CD64B98}"/>
                </a:ext>
              </a:extLst>
            </p:cNvPr>
            <p:cNvSpPr/>
            <p:nvPr/>
          </p:nvSpPr>
          <p:spPr>
            <a:xfrm>
              <a:off x="6896835" y="4334246"/>
              <a:ext cx="4376699" cy="16468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Google Shape;69;g1e69a032673_0_2"/>
            <p:cNvSpPr txBox="1"/>
            <p:nvPr/>
          </p:nvSpPr>
          <p:spPr>
            <a:xfrm>
              <a:off x="6955650" y="4247314"/>
              <a:ext cx="4376700" cy="116952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dirty="0" smtClean="0">
                  <a:solidFill>
                    <a:srgbClr val="000000"/>
                  </a:solidFill>
                  <a:latin typeface="Montserrat SemiBold"/>
                  <a:ea typeface="Montserrat SemiBold"/>
                  <a:cs typeface="Montserrat SemiBold"/>
                  <a:sym typeface="Montserrat SemiBold"/>
                </a:rPr>
                <a:t>Dr. Tanima </a:t>
              </a:r>
              <a:r>
                <a:rPr lang="en-US" sz="1600" b="0" i="0" u="none" strike="noStrike" cap="none" dirty="0" err="1">
                  <a:solidFill>
                    <a:srgbClr val="000000"/>
                  </a:solidFill>
                  <a:latin typeface="Montserrat SemiBold"/>
                  <a:ea typeface="Montserrat SemiBold"/>
                  <a:cs typeface="Montserrat SemiBold"/>
                  <a:sym typeface="Montserrat SemiBold"/>
                </a:rPr>
                <a:t>Bhowmik</a:t>
              </a:r>
              <a:endParaRPr sz="1600" b="0" i="0" u="none" strike="noStrike" cap="none" dirty="0">
                <a:solidFill>
                  <a:srgbClr val="000000"/>
                </a:solidFill>
                <a:latin typeface="Montserrat SemiBold"/>
                <a:ea typeface="Montserrat SemiBold"/>
                <a:cs typeface="Montserrat SemiBold"/>
                <a:sym typeface="Montserrat SemiBold"/>
              </a:endParaRPr>
            </a:p>
            <a:p>
              <a:pPr algn="ctr">
                <a:buSzPts val="1200"/>
              </a:pPr>
              <a:r>
                <a:rPr lang="en-US" sz="1600" dirty="0">
                  <a:latin typeface="Times New Roman" panose="02020603050405020304" pitchFamily="18" charset="0"/>
                  <a:ea typeface="Montserrat Medium"/>
                  <a:cs typeface="Times New Roman" panose="02020603050405020304" pitchFamily="18" charset="0"/>
                  <a:sym typeface="Montserrat Medium"/>
                </a:rPr>
                <a:t>Department of Computer Science and Technology(Artificial Intelligence and Machine Learning)</a:t>
              </a:r>
            </a:p>
          </p:txBody>
        </p:sp>
      </p:grpSp>
      <p:sp>
        <p:nvSpPr>
          <p:cNvPr id="6" name="Rectangle 5">
            <a:extLst>
              <a:ext uri="{FF2B5EF4-FFF2-40B4-BE49-F238E27FC236}">
                <a16:creationId xmlns="" xmlns:a16="http://schemas.microsoft.com/office/drawing/2014/main" id="{D8E9C7E8-ADD1-8D5F-186D-90F1F19B9324}"/>
              </a:ext>
            </a:extLst>
          </p:cNvPr>
          <p:cNvSpPr/>
          <p:nvPr/>
        </p:nvSpPr>
        <p:spPr>
          <a:xfrm>
            <a:off x="1487729" y="5912104"/>
            <a:ext cx="4376699" cy="16468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Google Shape;70;g1e69a032673_0_2"/>
          <p:cNvSpPr txBox="1"/>
          <p:nvPr/>
        </p:nvSpPr>
        <p:spPr>
          <a:xfrm>
            <a:off x="1487729" y="5905657"/>
            <a:ext cx="3690250" cy="116952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600" b="0" i="0" u="none" strike="noStrike" cap="none" dirty="0">
                <a:solidFill>
                  <a:srgbClr val="000000"/>
                </a:solidFill>
                <a:latin typeface="Montserrat SemiBold"/>
                <a:ea typeface="Montserrat SemiBold"/>
                <a:cs typeface="Montserrat SemiBold"/>
                <a:sym typeface="Montserrat SemiBold"/>
              </a:rPr>
              <a:t>Pratyusha Chatterjee</a:t>
            </a:r>
            <a:endParaRPr sz="1600" b="0" i="0" u="none" strike="noStrike" cap="none" dirty="0">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US" sz="1600" dirty="0">
                <a:latin typeface="Times New Roman" panose="02020603050405020304" pitchFamily="18" charset="0"/>
                <a:ea typeface="Montserrat Medium"/>
                <a:cs typeface="Times New Roman" panose="02020603050405020304" pitchFamily="18" charset="0"/>
                <a:sym typeface="Montserrat Medium"/>
              </a:rPr>
              <a:t>Department of Computer Science and Technology(Artificial Intelligence and Machine Learning)</a:t>
            </a:r>
            <a:endParaRPr sz="1600" b="0" i="0" u="none" strike="noStrike" cap="none" dirty="0">
              <a:solidFill>
                <a:srgbClr val="000000"/>
              </a:solidFill>
              <a:latin typeface="Montserrat Medium"/>
              <a:ea typeface="Montserrat Medium"/>
              <a:cs typeface="Montserrat Medium"/>
              <a:sym typeface="Montserrat Medium"/>
            </a:endParaRPr>
          </a:p>
        </p:txBody>
      </p:sp>
      <p:grpSp>
        <p:nvGrpSpPr>
          <p:cNvPr id="9" name="Group 8">
            <a:extLst>
              <a:ext uri="{FF2B5EF4-FFF2-40B4-BE49-F238E27FC236}">
                <a16:creationId xmlns="" xmlns:a16="http://schemas.microsoft.com/office/drawing/2014/main" id="{2985515F-3E6B-D181-2BD8-275828C4CC5C}"/>
              </a:ext>
            </a:extLst>
          </p:cNvPr>
          <p:cNvGrpSpPr/>
          <p:nvPr/>
        </p:nvGrpSpPr>
        <p:grpSpPr>
          <a:xfrm>
            <a:off x="11630348" y="3046204"/>
            <a:ext cx="3825623" cy="4513917"/>
            <a:chOff x="11781626" y="3209674"/>
            <a:chExt cx="3825623" cy="4513917"/>
          </a:xfrm>
        </p:grpSpPr>
        <p:pic>
          <p:nvPicPr>
            <p:cNvPr id="4" name="Google Shape;75;g1e69a032673_0_2">
              <a:extLst>
                <a:ext uri="{FF2B5EF4-FFF2-40B4-BE49-F238E27FC236}">
                  <a16:creationId xmlns="" xmlns:a16="http://schemas.microsoft.com/office/drawing/2014/main" id="{F8F27247-1AE2-68FE-386E-486D40F31576}"/>
                </a:ext>
              </a:extLst>
            </p:cNvPr>
            <p:cNvPicPr preferRelativeResize="0"/>
            <p:nvPr/>
          </p:nvPicPr>
          <p:blipFill>
            <a:blip r:embed="rId7">
              <a:extLst>
                <a:ext uri="{28A0092B-C50C-407E-A947-70E740481C1C}">
                  <a14:useLocalDpi xmlns:a14="http://schemas.microsoft.com/office/drawing/2010/main" val="0"/>
                </a:ext>
              </a:extLst>
            </a:blip>
            <a:stretch>
              <a:fillRect/>
            </a:stretch>
          </p:blipFill>
          <p:spPr>
            <a:xfrm>
              <a:off x="12534149" y="3209674"/>
              <a:ext cx="2247943" cy="277146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Rectangle 6">
              <a:extLst>
                <a:ext uri="{FF2B5EF4-FFF2-40B4-BE49-F238E27FC236}">
                  <a16:creationId xmlns="" xmlns:a16="http://schemas.microsoft.com/office/drawing/2014/main" id="{4D95183E-746B-4B70-9CC3-8D6F2EFCBA85}"/>
                </a:ext>
              </a:extLst>
            </p:cNvPr>
            <p:cNvSpPr/>
            <p:nvPr/>
          </p:nvSpPr>
          <p:spPr>
            <a:xfrm>
              <a:off x="11781626" y="6076704"/>
              <a:ext cx="3825623" cy="16468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Google Shape;71;g1e69a032673_0_2"/>
            <p:cNvSpPr txBox="1"/>
            <p:nvPr/>
          </p:nvSpPr>
          <p:spPr>
            <a:xfrm>
              <a:off x="11834395" y="6038693"/>
              <a:ext cx="3647449" cy="116952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600" dirty="0">
                  <a:latin typeface="Montserrat SemiBold"/>
                  <a:ea typeface="Montserrat SemiBold"/>
                  <a:cs typeface="Montserrat SemiBold"/>
                  <a:sym typeface="Montserrat SemiBold"/>
                </a:rPr>
                <a:t>Debajyoti</a:t>
              </a:r>
              <a:r>
                <a:rPr lang="en" sz="1600" b="0" i="0" u="none" strike="noStrike" cap="none" dirty="0">
                  <a:solidFill>
                    <a:srgbClr val="000000"/>
                  </a:solidFill>
                  <a:latin typeface="Montserrat SemiBold"/>
                  <a:ea typeface="Montserrat SemiBold"/>
                  <a:cs typeface="Montserrat SemiBold"/>
                  <a:sym typeface="Montserrat SemiBold"/>
                </a:rPr>
                <a:t> </a:t>
              </a:r>
              <a:r>
                <a:rPr lang="en-US" sz="1600" b="0" i="0" u="none" strike="noStrike" cap="none" dirty="0" err="1">
                  <a:solidFill>
                    <a:srgbClr val="000000"/>
                  </a:solidFill>
                  <a:latin typeface="Montserrat SemiBold"/>
                  <a:ea typeface="Montserrat SemiBold"/>
                  <a:cs typeface="Montserrat SemiBold"/>
                  <a:sym typeface="Montserrat SemiBold"/>
                </a:rPr>
                <a:t>Mitra</a:t>
              </a:r>
              <a:endParaRPr sz="1600" b="0" i="0" u="none" strike="noStrike" cap="none" dirty="0">
                <a:solidFill>
                  <a:srgbClr val="000000"/>
                </a:solidFill>
                <a:latin typeface="Montserrat SemiBold"/>
                <a:ea typeface="Montserrat SemiBold"/>
                <a:cs typeface="Montserrat SemiBold"/>
                <a:sym typeface="Montserrat SemiBold"/>
              </a:endParaRPr>
            </a:p>
            <a:p>
              <a:pPr marL="0" marR="0" lvl="0" indent="0" algn="ctr" rtl="0">
                <a:lnSpc>
                  <a:spcPct val="100000"/>
                </a:lnSpc>
                <a:spcBef>
                  <a:spcPts val="0"/>
                </a:spcBef>
                <a:spcAft>
                  <a:spcPts val="0"/>
                </a:spcAft>
                <a:buClr>
                  <a:srgbClr val="000000"/>
                </a:buClr>
                <a:buSzPts val="1200"/>
                <a:buFont typeface="Arial"/>
                <a:buNone/>
              </a:pPr>
              <a:r>
                <a:rPr lang="en-US" sz="1600" dirty="0">
                  <a:latin typeface="Times New Roman" panose="02020603050405020304" pitchFamily="18" charset="0"/>
                  <a:ea typeface="Montserrat Medium"/>
                  <a:cs typeface="Times New Roman" panose="02020603050405020304" pitchFamily="18" charset="0"/>
                  <a:sym typeface="Montserrat Medium"/>
                </a:rPr>
                <a:t>Department of Computer Science and Technology(Artificial Intelligence and Machine Learning)</a:t>
              </a:r>
              <a:endParaRPr sz="1600" b="0" i="0" u="none" strike="noStrike" cap="none" dirty="0">
                <a:solidFill>
                  <a:srgbClr val="000000"/>
                </a:solidFill>
                <a:latin typeface="Montserrat Medium"/>
                <a:ea typeface="Montserrat Medium"/>
                <a:cs typeface="Montserrat Medium"/>
                <a:sym typeface="Montserrat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2"/>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85" name="Google Shape;85;p2"/>
          <p:cNvSpPr txBox="1"/>
          <p:nvPr/>
        </p:nvSpPr>
        <p:spPr>
          <a:xfrm>
            <a:off x="5995785" y="1452975"/>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i="0" u="sng" strike="noStrike" cap="none">
                <a:solidFill>
                  <a:schemeClr val="dk1"/>
                </a:solidFill>
                <a:latin typeface="Arial"/>
                <a:ea typeface="Arial"/>
                <a:cs typeface="Arial"/>
                <a:sym typeface="Arial"/>
              </a:rPr>
              <a:t>Problem Statement</a:t>
            </a:r>
            <a:endParaRPr sz="4000" b="1" i="0" u="sng" strike="noStrike" cap="none">
              <a:solidFill>
                <a:schemeClr val="dk1"/>
              </a:solidFill>
              <a:latin typeface="Arial"/>
              <a:ea typeface="Arial"/>
              <a:cs typeface="Arial"/>
              <a:sym typeface="Arial"/>
            </a:endParaRPr>
          </a:p>
        </p:txBody>
      </p:sp>
      <p:sp>
        <p:nvSpPr>
          <p:cNvPr id="86" name="Google Shape;86;p2"/>
          <p:cNvSpPr txBox="1"/>
          <p:nvPr/>
        </p:nvSpPr>
        <p:spPr>
          <a:xfrm>
            <a:off x="799853" y="2451088"/>
            <a:ext cx="15030697" cy="6986498"/>
          </a:xfrm>
          <a:prstGeom prst="rect">
            <a:avLst/>
          </a:prstGeom>
          <a:noFill/>
          <a:ln>
            <a:noFill/>
          </a:ln>
        </p:spPr>
        <p:txBody>
          <a:bodyPr spcFirstLastPara="1" wrap="square" lIns="91425" tIns="91425" rIns="91425" bIns="91425" anchor="t" anchorCtr="0">
            <a:spAutoFit/>
          </a:bodyPr>
          <a:lstStyle/>
          <a:p>
            <a:pPr marL="457200" indent="-457200" algn="just">
              <a:buFont typeface="Arial" panose="020B0604020202020204" pitchFamily="34" charset="0"/>
              <a:buChar char="•"/>
            </a:pPr>
            <a:r>
              <a:rPr lang="en-US" sz="2600" b="1" dirty="0"/>
              <a:t>Inefficient Farm Monitoring: </a:t>
            </a:r>
            <a:r>
              <a:rPr lang="en-US" sz="2600" dirty="0"/>
              <a:t>Manual inspections and periodic soil testing cause delays in detecting crop diseases, pest infestations, and soil deficiencies, reducing productivity.</a:t>
            </a:r>
          </a:p>
          <a:p>
            <a:pPr marL="457200" indent="-457200" algn="just">
              <a:buFont typeface="Arial" panose="020B0604020202020204" pitchFamily="34" charset="0"/>
              <a:buChar char="•"/>
            </a:pPr>
            <a:endParaRPr lang="en-US" sz="2600" b="1" dirty="0"/>
          </a:p>
          <a:p>
            <a:pPr marL="457200" indent="-457200" algn="just">
              <a:buFont typeface="Arial" panose="020B0604020202020204" pitchFamily="34" charset="0"/>
              <a:buChar char="•"/>
            </a:pPr>
            <a:r>
              <a:rPr lang="en-US" sz="2600" b="1" dirty="0"/>
              <a:t>Lack of Real-Time Insights: </a:t>
            </a:r>
            <a:r>
              <a:rPr lang="en-US" sz="2600" dirty="0"/>
              <a:t>Farmers struggle with limited access to real-time data on soil health, crop conditions, and livestock movement, leading to inefficient decision-making.</a:t>
            </a:r>
          </a:p>
          <a:p>
            <a:pPr marL="457200" indent="-457200" algn="just">
              <a:buFont typeface="Arial" panose="020B0604020202020204" pitchFamily="34" charset="0"/>
              <a:buChar char="•"/>
            </a:pPr>
            <a:endParaRPr lang="en-US" sz="2600" b="1" dirty="0"/>
          </a:p>
          <a:p>
            <a:pPr marL="457200" indent="-457200" algn="just">
              <a:buFont typeface="Arial" panose="020B0604020202020204" pitchFamily="34" charset="0"/>
              <a:buChar char="•"/>
            </a:pPr>
            <a:r>
              <a:rPr lang="en-US" sz="2600" b="1" dirty="0"/>
              <a:t>Pest and Disease Management Gaps: </a:t>
            </a:r>
            <a:r>
              <a:rPr lang="en-US" sz="2600" dirty="0"/>
              <a:t>Without automated detection, pest infestations and crop diseases go unnoticed, impacting crop yield, quality, and overall farm sustainability.</a:t>
            </a:r>
          </a:p>
          <a:p>
            <a:pPr marL="457200" indent="-457200" algn="just">
              <a:buFont typeface="Arial" panose="020B0604020202020204" pitchFamily="34" charset="0"/>
              <a:buChar char="•"/>
            </a:pPr>
            <a:endParaRPr lang="en-US" sz="2600" b="1" dirty="0"/>
          </a:p>
          <a:p>
            <a:pPr marL="457200" indent="-457200" algn="just">
              <a:buFont typeface="Arial" panose="020B0604020202020204" pitchFamily="34" charset="0"/>
              <a:buChar char="•"/>
            </a:pPr>
            <a:r>
              <a:rPr lang="en-US" sz="2600" b="1" dirty="0"/>
              <a:t>High Labor Dependence: </a:t>
            </a:r>
            <a:r>
              <a:rPr lang="en-US" sz="2600" dirty="0"/>
              <a:t>Traditional livestock management and farming methods are time-consuming, labor-intensive, and increase operational costs without technological intervention.</a:t>
            </a:r>
          </a:p>
          <a:p>
            <a:pPr marL="457200" indent="-457200" algn="just">
              <a:buFont typeface="Arial" panose="020B0604020202020204" pitchFamily="34" charset="0"/>
              <a:buChar char="•"/>
            </a:pPr>
            <a:endParaRPr lang="en-US" sz="2600" b="1" dirty="0"/>
          </a:p>
          <a:p>
            <a:pPr marL="457200" indent="-457200" algn="just">
              <a:buFont typeface="Arial" panose="020B0604020202020204" pitchFamily="34" charset="0"/>
              <a:buChar char="•"/>
            </a:pPr>
            <a:r>
              <a:rPr lang="en-US" sz="2600" b="1" dirty="0"/>
              <a:t>Limited AI Integration: </a:t>
            </a:r>
            <a:r>
              <a:rPr lang="en-US" sz="2600" dirty="0"/>
              <a:t>The absence of machine learning-driven analytics prevents precise pest detection, crop classification, and predictive insights for optimized farm management.</a:t>
            </a:r>
          </a:p>
          <a:p>
            <a:pPr marL="457200" indent="-457200" algn="just">
              <a:buFont typeface="Arial" panose="020B0604020202020204" pitchFamily="34" charset="0"/>
              <a:buChar char="•"/>
            </a:pPr>
            <a:endParaRPr lang="en-US" sz="2600" b="1" dirty="0"/>
          </a:p>
          <a:p>
            <a:pPr marL="457200" indent="-457200" algn="just">
              <a:buFont typeface="Arial" panose="020B0604020202020204" pitchFamily="34" charset="0"/>
              <a:buChar char="•"/>
            </a:pPr>
            <a:r>
              <a:rPr lang="en-US" sz="2600" b="1" dirty="0"/>
              <a:t>User-Friendly Farm Monitoring Software: </a:t>
            </a:r>
            <a:r>
              <a:rPr lang="en-US" sz="2600" dirty="0"/>
              <a:t>A seamless platform providing farmers with easy access to real-time insights, visualization tools, and AI-driven analytics.</a:t>
            </a:r>
          </a:p>
        </p:txBody>
      </p:sp>
      <p:pic>
        <p:nvPicPr>
          <p:cNvPr id="87" name="Google Shape;87;p2"/>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93" name="Google Shape;93;p3"/>
          <p:cNvSpPr txBox="1"/>
          <p:nvPr/>
        </p:nvSpPr>
        <p:spPr>
          <a:xfrm>
            <a:off x="7169265" y="1791782"/>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sng" strike="noStrike" cap="none">
                <a:solidFill>
                  <a:schemeClr val="dk1"/>
                </a:solidFill>
                <a:latin typeface="Arial"/>
                <a:ea typeface="Arial"/>
                <a:cs typeface="Arial"/>
                <a:sym typeface="Arial"/>
              </a:rPr>
              <a:t>Introduction</a:t>
            </a:r>
            <a:endParaRPr sz="4000" b="1" i="0" u="sng" strike="noStrike" cap="none">
              <a:solidFill>
                <a:schemeClr val="dk1"/>
              </a:solidFill>
              <a:latin typeface="Arial"/>
              <a:ea typeface="Arial"/>
              <a:cs typeface="Arial"/>
              <a:sym typeface="Arial"/>
            </a:endParaRPr>
          </a:p>
        </p:txBody>
      </p:sp>
      <p:sp>
        <p:nvSpPr>
          <p:cNvPr id="94" name="Google Shape;94;p3"/>
          <p:cNvSpPr txBox="1"/>
          <p:nvPr/>
        </p:nvSpPr>
        <p:spPr>
          <a:xfrm>
            <a:off x="766930" y="2546142"/>
            <a:ext cx="14594820" cy="6986498"/>
          </a:xfrm>
          <a:prstGeom prst="rect">
            <a:avLst/>
          </a:prstGeom>
          <a:noFill/>
          <a:ln>
            <a:noFill/>
          </a:ln>
        </p:spPr>
        <p:txBody>
          <a:bodyPr spcFirstLastPara="1" wrap="square" lIns="91425" tIns="91425" rIns="91425" bIns="91425" anchor="t" anchorCtr="0">
            <a:spAutoFit/>
          </a:bodyPr>
          <a:lstStyle/>
          <a:p>
            <a:pPr marL="342900" indent="-342900" algn="just">
              <a:buFont typeface="Arial" panose="020B0604020202020204" pitchFamily="34" charset="0"/>
              <a:buChar char="•"/>
            </a:pPr>
            <a:r>
              <a:rPr lang="en-US" sz="2600" b="1" dirty="0"/>
              <a:t>Farmers face persistent challenges like pest infestations, crop diseases, and inefficient livestock management, affecting productivity and sustainability.</a:t>
            </a:r>
          </a:p>
          <a:p>
            <a:pPr algn="just"/>
            <a:endParaRPr lang="en-US" sz="2600" b="1" dirty="0"/>
          </a:p>
          <a:p>
            <a:pPr marL="342900" indent="-342900" algn="just">
              <a:buFont typeface="Arial" panose="020B0604020202020204" pitchFamily="34" charset="0"/>
              <a:buChar char="•"/>
            </a:pPr>
            <a:r>
              <a:rPr lang="en-US" sz="2600" b="1" dirty="0"/>
              <a:t>Traditional agricultural practices rely on manual monitoring, which is time-consuming, inaccurate, and lacks real-time data-driven insights.</a:t>
            </a:r>
          </a:p>
          <a:p>
            <a:pPr algn="just"/>
            <a:endParaRPr lang="en-US" sz="2600" b="1" dirty="0"/>
          </a:p>
          <a:p>
            <a:pPr marL="342900" indent="-342900" algn="just">
              <a:buFont typeface="Arial" panose="020B0604020202020204" pitchFamily="34" charset="0"/>
              <a:buChar char="•"/>
            </a:pPr>
            <a:r>
              <a:rPr lang="en-US" sz="2600" b="1" dirty="0"/>
              <a:t>Combining drones, Dew Nodes, and AI-driven analytics enables automated farm surveillance, precise soil monitoring, and crop health assessment.</a:t>
            </a:r>
          </a:p>
          <a:p>
            <a:pPr algn="just"/>
            <a:endParaRPr lang="en-US" sz="2600" b="1" dirty="0"/>
          </a:p>
          <a:p>
            <a:pPr marL="342900" indent="-342900" algn="just">
              <a:buFont typeface="Arial" panose="020B0604020202020204" pitchFamily="34" charset="0"/>
              <a:buChar char="•"/>
            </a:pPr>
            <a:r>
              <a:rPr lang="en-US" sz="2600" b="1" dirty="0"/>
              <a:t>AI-powered algorithms enhance precision farming by detecting pests, identifying diseases, and analyzing crop growth stages for better decision-making.</a:t>
            </a:r>
          </a:p>
          <a:p>
            <a:pPr algn="just"/>
            <a:endParaRPr lang="en-US" sz="2600" b="1" dirty="0"/>
          </a:p>
          <a:p>
            <a:pPr marL="342900" indent="-342900" algn="just">
              <a:buFont typeface="Arial" panose="020B0604020202020204" pitchFamily="34" charset="0"/>
              <a:buChar char="•"/>
            </a:pPr>
            <a:r>
              <a:rPr lang="en-US" sz="2600" b="1" dirty="0"/>
              <a:t>A dedicated software platform provides real-time visualization, AI-driven insights, and automated alerts, ensuring ease of access for farmers.</a:t>
            </a:r>
          </a:p>
          <a:p>
            <a:pPr algn="just"/>
            <a:endParaRPr lang="en-US" sz="2600" b="1" dirty="0"/>
          </a:p>
          <a:p>
            <a:pPr marL="342900" indent="-342900" algn="just">
              <a:buFont typeface="Arial" panose="020B0604020202020204" pitchFamily="34" charset="0"/>
              <a:buChar char="•"/>
            </a:pPr>
            <a:r>
              <a:rPr lang="en-US" sz="2600" b="1" dirty="0"/>
              <a:t>A holistic, technology-driven system optimizes resource usage, improves farm efficiency, and promotes sustainable, data-driven farming practices.</a:t>
            </a:r>
          </a:p>
        </p:txBody>
      </p:sp>
      <p:pic>
        <p:nvPicPr>
          <p:cNvPr id="95" name="Google Shape;95;p3"/>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4"/>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101" name="Google Shape;101;p4"/>
          <p:cNvSpPr txBox="1"/>
          <p:nvPr/>
        </p:nvSpPr>
        <p:spPr>
          <a:xfrm>
            <a:off x="6544425" y="1299774"/>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sng" strike="noStrike" cap="none">
                <a:solidFill>
                  <a:schemeClr val="dk1"/>
                </a:solidFill>
                <a:latin typeface="Arial"/>
                <a:ea typeface="Arial"/>
                <a:cs typeface="Arial"/>
                <a:sym typeface="Arial"/>
              </a:rPr>
              <a:t>Research Survey</a:t>
            </a:r>
            <a:endParaRPr sz="4000" b="1" i="0" u="sng" strike="noStrike" cap="none" dirty="0">
              <a:solidFill>
                <a:schemeClr val="dk1"/>
              </a:solidFill>
              <a:latin typeface="Arial"/>
              <a:ea typeface="Arial"/>
              <a:cs typeface="Arial"/>
              <a:sym typeface="Arial"/>
            </a:endParaRPr>
          </a:p>
        </p:txBody>
      </p:sp>
      <p:sp>
        <p:nvSpPr>
          <p:cNvPr id="102" name="Google Shape;102;p4"/>
          <p:cNvSpPr txBox="1"/>
          <p:nvPr/>
        </p:nvSpPr>
        <p:spPr>
          <a:xfrm>
            <a:off x="677024" y="2100174"/>
            <a:ext cx="15363076" cy="8186826"/>
          </a:xfrm>
          <a:prstGeom prst="rect">
            <a:avLst/>
          </a:prstGeom>
          <a:noFill/>
          <a:ln>
            <a:noFill/>
          </a:ln>
        </p:spPr>
        <p:txBody>
          <a:bodyPr spcFirstLastPara="1" wrap="square" lIns="91425" tIns="91425" rIns="91425" bIns="91425" anchor="t" anchorCtr="0">
            <a:spAutoFit/>
          </a:bodyPr>
          <a:lstStyle/>
          <a:p>
            <a:pPr marL="342900" indent="-342900" algn="just">
              <a:buFont typeface="Arial" panose="020B0604020202020204" pitchFamily="34" charset="0"/>
              <a:buChar char="•"/>
            </a:pPr>
            <a:r>
              <a:rPr lang="en-IN" sz="2600" b="1" dirty="0"/>
              <a:t>Nadia </a:t>
            </a:r>
            <a:r>
              <a:rPr lang="en-IN" sz="2600" b="1" dirty="0" err="1"/>
              <a:t>Delavarpour</a:t>
            </a:r>
            <a:r>
              <a:rPr lang="en-IN" sz="2600" b="1" dirty="0"/>
              <a:t> et al. integrated UAVs with advanced technology for precision farming, improving yield and reducing costs. Limitations include resolution constraints and weather dependence, requiring better sensing technologies and methodologies.</a:t>
            </a:r>
          </a:p>
          <a:p>
            <a:pPr algn="just"/>
            <a:endParaRPr lang="en-IN" sz="2600" b="1" dirty="0"/>
          </a:p>
          <a:p>
            <a:pPr marL="342900" indent="-342900" algn="just">
              <a:buFont typeface="Arial" panose="020B0604020202020204" pitchFamily="34" charset="0"/>
              <a:buChar char="•"/>
            </a:pPr>
            <a:r>
              <a:rPr lang="en-IN" sz="2600" b="1" dirty="0" err="1"/>
              <a:t>Cacan</a:t>
            </a:r>
            <a:r>
              <a:rPr lang="en-IN" sz="2600" b="1" dirty="0"/>
              <a:t> Song et al. </a:t>
            </a:r>
            <a:r>
              <a:rPr lang="en-IN" sz="2600" b="1" dirty="0" err="1"/>
              <a:t>analyzed</a:t>
            </a:r>
            <a:r>
              <a:rPr lang="en-IN" sz="2600" b="1" dirty="0"/>
              <a:t> UAV-based granular fertilizer spreaders, finding GFS-D most effective for precise variable-rate fertilization. Future work focuses on developing an autonomous system for site-specific fertilizer application.</a:t>
            </a:r>
          </a:p>
          <a:p>
            <a:pPr algn="just"/>
            <a:endParaRPr lang="en-IN" sz="2600" b="1" dirty="0"/>
          </a:p>
          <a:p>
            <a:pPr marL="342900" indent="-342900" algn="just">
              <a:buFont typeface="Arial" panose="020B0604020202020204" pitchFamily="34" charset="0"/>
              <a:buChar char="•"/>
            </a:pPr>
            <a:r>
              <a:rPr lang="en-IN" sz="2600" b="1" dirty="0" err="1"/>
              <a:t>Rashmi</a:t>
            </a:r>
            <a:r>
              <a:rPr lang="en-IN" sz="2600" b="1" dirty="0"/>
              <a:t> </a:t>
            </a:r>
            <a:r>
              <a:rPr lang="en-IN" sz="2600" b="1" dirty="0" err="1"/>
              <a:t>Priya</a:t>
            </a:r>
            <a:r>
              <a:rPr lang="en-IN" sz="2600" b="1" dirty="0"/>
              <a:t> Sharma et al. proposed an </a:t>
            </a:r>
            <a:r>
              <a:rPr lang="en-IN" sz="2600" b="1" dirty="0" err="1"/>
              <a:t>IoT</a:t>
            </a:r>
            <a:r>
              <a:rPr lang="en-IN" sz="2600" b="1" dirty="0"/>
              <a:t> and fuzzy-logic system for pest prediction in rice and millet, considering meteorological impacts. Future improvements include optimizing fuzzy logic with genetic algorithms for better accuracy on edge devices.</a:t>
            </a:r>
          </a:p>
          <a:p>
            <a:pPr marL="342900" indent="-342900" algn="just">
              <a:buFont typeface="Arial" panose="020B0604020202020204" pitchFamily="34" charset="0"/>
              <a:buChar char="•"/>
            </a:pPr>
            <a:endParaRPr lang="en-IN" sz="2600" b="1" dirty="0"/>
          </a:p>
          <a:p>
            <a:pPr marL="342900" indent="-342900" algn="just">
              <a:buFont typeface="Arial" panose="020B0604020202020204" pitchFamily="34" charset="0"/>
              <a:buChar char="•"/>
            </a:pPr>
            <a:r>
              <a:rPr lang="en-IN" sz="2600" b="1" dirty="0" err="1"/>
              <a:t>Nurzaman</a:t>
            </a:r>
            <a:r>
              <a:rPr lang="en-IN" sz="2600" b="1" dirty="0"/>
              <a:t> Ahmed et al. proposed a scalable </a:t>
            </a:r>
            <a:r>
              <a:rPr lang="en-IN" sz="2600" b="1" dirty="0" err="1"/>
              <a:t>IoT</a:t>
            </a:r>
            <a:r>
              <a:rPr lang="en-IN" sz="2600" b="1" dirty="0"/>
              <a:t> network using </a:t>
            </a:r>
            <a:r>
              <a:rPr lang="en-IN" sz="2600" b="1" dirty="0" err="1"/>
              <a:t>WiFi</a:t>
            </a:r>
            <a:r>
              <a:rPr lang="en-IN" sz="2600" b="1" dirty="0"/>
              <a:t> and fog computing, prioritizing low latency. Future work should enhance data rates, bandwidth allocation, and security while addressing privacy concerns.</a:t>
            </a:r>
          </a:p>
          <a:p>
            <a:pPr marL="342900" indent="-342900" algn="just">
              <a:buFont typeface="Arial" panose="020B0604020202020204" pitchFamily="34" charset="0"/>
              <a:buChar char="•"/>
            </a:pPr>
            <a:endParaRPr lang="en-IN" sz="2600" b="1" dirty="0"/>
          </a:p>
          <a:p>
            <a:pPr marL="342900" indent="-342900" algn="just">
              <a:buFont typeface="Arial" panose="020B0604020202020204" pitchFamily="34" charset="0"/>
              <a:buChar char="•"/>
            </a:pPr>
            <a:r>
              <a:rPr lang="en-IN" sz="2600" b="1" dirty="0" err="1"/>
              <a:t>Dimosthenis</a:t>
            </a:r>
            <a:r>
              <a:rPr lang="en-IN" sz="2600" b="1" dirty="0"/>
              <a:t> C. </a:t>
            </a:r>
            <a:r>
              <a:rPr lang="en-IN" sz="2600" b="1" dirty="0" err="1"/>
              <a:t>Tsouros</a:t>
            </a:r>
            <a:r>
              <a:rPr lang="en-IN" sz="2600" b="1" dirty="0"/>
              <a:t> et al. highlighted </a:t>
            </a:r>
            <a:r>
              <a:rPr lang="en-IN" sz="2600" b="1" dirty="0" err="1"/>
              <a:t>IoT’s</a:t>
            </a:r>
            <a:r>
              <a:rPr lang="en-IN" sz="2600" b="1" dirty="0"/>
              <a:t> role in precision farming, emphasizing real-time data for better decisions. Future research should standardize UAV operations, improve data collection, and enhance accuracy in yield forecasting.</a:t>
            </a:r>
          </a:p>
          <a:p>
            <a:pPr algn="just"/>
            <a:endParaRPr lang="en-IN" sz="2600" b="1" dirty="0"/>
          </a:p>
        </p:txBody>
      </p:sp>
      <p:pic>
        <p:nvPicPr>
          <p:cNvPr id="103" name="Google Shape;103;p4"/>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9" name="Google Shape;109;p5"/>
          <p:cNvSpPr txBox="1"/>
          <p:nvPr/>
        </p:nvSpPr>
        <p:spPr>
          <a:xfrm>
            <a:off x="7008676" y="933432"/>
            <a:ext cx="4965000" cy="646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3000" b="1" i="0" u="sng" strike="noStrike" cap="none" dirty="0">
                <a:solidFill>
                  <a:schemeClr val="dk1"/>
                </a:solidFill>
                <a:latin typeface="Arial"/>
                <a:ea typeface="Arial"/>
                <a:cs typeface="Arial"/>
                <a:sym typeface="Arial"/>
              </a:rPr>
              <a:t>Proposed Solution</a:t>
            </a:r>
            <a:endParaRPr sz="3000" b="1" i="0" u="sng" strike="noStrike" cap="none" dirty="0">
              <a:solidFill>
                <a:schemeClr val="dk1"/>
              </a:solidFill>
              <a:latin typeface="Arial"/>
              <a:ea typeface="Arial"/>
              <a:cs typeface="Arial"/>
              <a:sym typeface="Arial"/>
            </a:endParaRPr>
          </a:p>
        </p:txBody>
      </p:sp>
      <p:pic>
        <p:nvPicPr>
          <p:cNvPr id="111" name="Google Shape;111;p5"/>
          <p:cNvPicPr preferRelativeResize="0"/>
          <p:nvPr/>
        </p:nvPicPr>
        <p:blipFill>
          <a:blip r:embed="rId4">
            <a:alphaModFix/>
          </a:blip>
          <a:stretch>
            <a:fillRect/>
          </a:stretch>
        </p:blipFill>
        <p:spPr>
          <a:xfrm>
            <a:off x="13555400" y="152400"/>
            <a:ext cx="3612700" cy="1300575"/>
          </a:xfrm>
          <a:prstGeom prst="rect">
            <a:avLst/>
          </a:prstGeom>
          <a:noFill/>
          <a:ln>
            <a:noFill/>
          </a:ln>
        </p:spPr>
      </p:pic>
      <p:sp>
        <p:nvSpPr>
          <p:cNvPr id="4" name="TextBox 3">
            <a:extLst>
              <a:ext uri="{FF2B5EF4-FFF2-40B4-BE49-F238E27FC236}">
                <a16:creationId xmlns="" xmlns:a16="http://schemas.microsoft.com/office/drawing/2014/main" id="{DD202687-2B51-1688-FDA8-8B97368DFAE9}"/>
              </a:ext>
            </a:extLst>
          </p:cNvPr>
          <p:cNvSpPr txBox="1"/>
          <p:nvPr/>
        </p:nvSpPr>
        <p:spPr>
          <a:xfrm>
            <a:off x="247650" y="1579732"/>
            <a:ext cx="16078200" cy="7786747"/>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rgbClr val="00B050"/>
                </a:solidFill>
              </a:rPr>
              <a:t>Sensor-Equipped Farm </a:t>
            </a:r>
            <a:r>
              <a:rPr lang="en-US" sz="2000" b="1" dirty="0" smtClean="0">
                <a:solidFill>
                  <a:srgbClr val="00B050"/>
                </a:solidFill>
              </a:rPr>
              <a:t>Drone</a:t>
            </a:r>
            <a:r>
              <a:rPr lang="en-US" sz="2000" b="1" dirty="0" smtClean="0"/>
              <a:t>: </a:t>
            </a:r>
            <a:r>
              <a:rPr lang="en-US" sz="2000" b="1" dirty="0"/>
              <a:t>Develop a drone with cameras and multispectral sensors to capture real-time aerial data for crop and soil monitoring. It enhances precision farming by detecting anomalies in crop health and environmental conditions.</a:t>
            </a:r>
          </a:p>
          <a:p>
            <a:pPr algn="just"/>
            <a:endParaRPr lang="en-US" sz="2000" b="1" dirty="0"/>
          </a:p>
          <a:p>
            <a:pPr marL="342900" indent="-342900" algn="just">
              <a:buFont typeface="Arial" panose="020B0604020202020204" pitchFamily="34" charset="0"/>
              <a:buChar char="•"/>
            </a:pPr>
            <a:r>
              <a:rPr lang="en-US" sz="2000" b="1" dirty="0">
                <a:solidFill>
                  <a:srgbClr val="00B050"/>
                </a:solidFill>
              </a:rPr>
              <a:t>Dew Nodes for Soil </a:t>
            </a:r>
            <a:r>
              <a:rPr lang="en-US" sz="2000" b="1" dirty="0" smtClean="0">
                <a:solidFill>
                  <a:srgbClr val="00B050"/>
                </a:solidFill>
              </a:rPr>
              <a:t>Monitoring</a:t>
            </a:r>
            <a:r>
              <a:rPr lang="en-US" sz="2000" b="1" dirty="0" smtClean="0"/>
              <a:t>: </a:t>
            </a:r>
            <a:r>
              <a:rPr lang="en-US" sz="2000" b="1" dirty="0"/>
              <a:t>Deploy compact ground-based sensors to track soil nutrients, moisture levels, and other essential parameters. These sensors transmit real-time data to the system for better farm management.</a:t>
            </a:r>
          </a:p>
          <a:p>
            <a:pPr algn="just"/>
            <a:endParaRPr lang="en-US" sz="2000" b="1" dirty="0"/>
          </a:p>
          <a:p>
            <a:pPr marL="342900" indent="-342900" algn="just">
              <a:buFont typeface="Arial" panose="020B0604020202020204" pitchFamily="34" charset="0"/>
              <a:buChar char="•"/>
            </a:pPr>
            <a:r>
              <a:rPr lang="en-US" sz="2000" b="1" dirty="0">
                <a:solidFill>
                  <a:srgbClr val="00B050"/>
                </a:solidFill>
              </a:rPr>
              <a:t>Automated Data Collection &amp; </a:t>
            </a:r>
            <a:r>
              <a:rPr lang="en-US" sz="2000" b="1" dirty="0" smtClean="0">
                <a:solidFill>
                  <a:srgbClr val="00B050"/>
                </a:solidFill>
              </a:rPr>
              <a:t>Processing</a:t>
            </a:r>
            <a:r>
              <a:rPr lang="en-US" sz="2000" b="1" dirty="0" smtClean="0"/>
              <a:t>: </a:t>
            </a:r>
            <a:r>
              <a:rPr lang="en-US" sz="2000" b="1" dirty="0"/>
              <a:t>Integrate data from drones and Dew Nodes to analyze crop health, soil conditions, and pest infestations. The system processes data onboard or sends it to a ground station for further insights.</a:t>
            </a:r>
          </a:p>
          <a:p>
            <a:pPr marL="342900" indent="-342900" algn="just">
              <a:buFont typeface="Arial" panose="020B0604020202020204" pitchFamily="34" charset="0"/>
              <a:buChar char="•"/>
            </a:pPr>
            <a:endParaRPr lang="en-US" sz="2000" b="1" dirty="0"/>
          </a:p>
          <a:p>
            <a:pPr marL="342900" indent="-342900" algn="just">
              <a:buFont typeface="Arial" panose="020B0604020202020204" pitchFamily="34" charset="0"/>
              <a:buChar char="•"/>
            </a:pPr>
            <a:r>
              <a:rPr lang="en-US" sz="2000" b="1" dirty="0">
                <a:solidFill>
                  <a:srgbClr val="00B050"/>
                </a:solidFill>
              </a:rPr>
              <a:t>AI-Powered Pest &amp; Disease </a:t>
            </a:r>
            <a:r>
              <a:rPr lang="en-US" sz="2000" b="1" dirty="0" smtClean="0">
                <a:solidFill>
                  <a:srgbClr val="00B050"/>
                </a:solidFill>
              </a:rPr>
              <a:t>Detectio</a:t>
            </a:r>
            <a:r>
              <a:rPr lang="en-US" sz="2000" b="1" dirty="0" smtClean="0"/>
              <a:t>n: </a:t>
            </a:r>
            <a:r>
              <a:rPr lang="en-US" sz="2000" b="1" dirty="0"/>
              <a:t>The farm drone captures multispectral and thermal images to detect early signs of crop stress, pests, and diseases. Using computer vision and AI, it classifies anomalies into fungal, bacterial, or viral infections, enabling precise identification and early intervention to prevent disease spread.</a:t>
            </a:r>
          </a:p>
          <a:p>
            <a:pPr marL="342900" indent="-342900" algn="just">
              <a:buFont typeface="Arial" panose="020B0604020202020204" pitchFamily="34" charset="0"/>
              <a:buChar char="•"/>
            </a:pPr>
            <a:endParaRPr lang="en-US" sz="2000" b="1" dirty="0"/>
          </a:p>
          <a:p>
            <a:pPr marL="342900" indent="-342900" algn="just">
              <a:buFont typeface="Arial" panose="020B0604020202020204" pitchFamily="34" charset="0"/>
              <a:buChar char="•"/>
            </a:pPr>
            <a:r>
              <a:rPr lang="en-US" sz="2000" b="1" dirty="0">
                <a:solidFill>
                  <a:srgbClr val="00B050"/>
                </a:solidFill>
              </a:rPr>
              <a:t>Crop Recognition &amp; Growth </a:t>
            </a:r>
            <a:r>
              <a:rPr lang="en-US" sz="2000" b="1" dirty="0" smtClean="0">
                <a:solidFill>
                  <a:srgbClr val="00B050"/>
                </a:solidFill>
              </a:rPr>
              <a:t>Analysis: </a:t>
            </a:r>
            <a:r>
              <a:rPr lang="en-IN" sz="2000" b="1" dirty="0"/>
              <a:t>The system utilizes soil data from Dew Nodes, </a:t>
            </a:r>
            <a:r>
              <a:rPr lang="en-IN" sz="2000" b="1" dirty="0" err="1"/>
              <a:t>analyzing</a:t>
            </a:r>
            <a:r>
              <a:rPr lang="en-IN" sz="2000" b="1" dirty="0"/>
              <a:t> nutrients, moisture, and environmental conditions to suggest the most suitable crops for a given farmland. By leveraging machine learning algorithms, it ensures optimal crop selection for maximizing yield and sustainability.</a:t>
            </a:r>
          </a:p>
          <a:p>
            <a:pPr marL="342900" indent="-342900" algn="just">
              <a:buFont typeface="Arial" panose="020B0604020202020204" pitchFamily="34" charset="0"/>
              <a:buChar char="•"/>
            </a:pPr>
            <a:endParaRPr lang="en-US" sz="2000" b="1" dirty="0"/>
          </a:p>
          <a:p>
            <a:pPr marL="342900" indent="-342900" algn="just">
              <a:buFont typeface="Arial" panose="020B0604020202020204" pitchFamily="34" charset="0"/>
              <a:buChar char="•"/>
            </a:pPr>
            <a:r>
              <a:rPr lang="en-US" sz="2000" b="1" dirty="0">
                <a:solidFill>
                  <a:srgbClr val="00B050"/>
                </a:solidFill>
              </a:rPr>
              <a:t>Smart Livestock </a:t>
            </a:r>
            <a:r>
              <a:rPr lang="en-US" sz="2000" b="1" dirty="0" smtClean="0">
                <a:solidFill>
                  <a:srgbClr val="00B050"/>
                </a:solidFill>
              </a:rPr>
              <a:t>Management</a:t>
            </a:r>
            <a:r>
              <a:rPr lang="en-US" sz="2000" b="1" dirty="0" smtClean="0"/>
              <a:t>: </a:t>
            </a:r>
            <a:r>
              <a:rPr lang="en-US" sz="2000" b="1" dirty="0"/>
              <a:t>Develop drones with autonomous flight paths and real-time tracking for efficient cattle herding. This reduces labor costs and enhances livestock safety and monitoring.</a:t>
            </a:r>
          </a:p>
          <a:p>
            <a:pPr marL="342900" indent="-342900" algn="just">
              <a:buFont typeface="Arial" panose="020B0604020202020204" pitchFamily="34" charset="0"/>
              <a:buChar char="•"/>
            </a:pPr>
            <a:endParaRPr lang="en-US" sz="2000" b="1" dirty="0"/>
          </a:p>
          <a:p>
            <a:pPr marL="342900" indent="-342900" algn="just">
              <a:buFont typeface="Arial" panose="020B0604020202020204" pitchFamily="34" charset="0"/>
              <a:buChar char="•"/>
            </a:pPr>
            <a:r>
              <a:rPr lang="en-US" sz="2000" b="1" dirty="0">
                <a:solidFill>
                  <a:srgbClr val="00B050"/>
                </a:solidFill>
              </a:rPr>
              <a:t>User-Friendly Farm Monitoring </a:t>
            </a:r>
            <a:r>
              <a:rPr lang="en-US" sz="2000" b="1" dirty="0" smtClean="0">
                <a:solidFill>
                  <a:srgbClr val="00B050"/>
                </a:solidFill>
              </a:rPr>
              <a:t>Software</a:t>
            </a:r>
            <a:r>
              <a:rPr lang="en-US" sz="2000" b="1" dirty="0" smtClean="0"/>
              <a:t>: </a:t>
            </a:r>
            <a:r>
              <a:rPr lang="en-US" sz="2000" b="1" dirty="0"/>
              <a:t>Build an AI-driven platform with visualization tools, real-time analytics, and automated alerts. It ensures farmers can easily interpret data and make informed decisions.</a:t>
            </a:r>
          </a:p>
          <a:p>
            <a:pPr marL="342900" indent="-342900" algn="just">
              <a:buFont typeface="Arial" panose="020B0604020202020204" pitchFamily="34" charset="0"/>
              <a:buChar char="•"/>
            </a:pPr>
            <a:endParaRPr lang="en-US" sz="2000" b="1" dirty="0"/>
          </a:p>
          <a:p>
            <a:pPr marL="342900" indent="-342900" algn="just">
              <a:buFont typeface="Arial" panose="020B0604020202020204" pitchFamily="34" charset="0"/>
              <a:buChar char="•"/>
            </a:pPr>
            <a:r>
              <a:rPr lang="en-US" sz="2000" b="1" dirty="0">
                <a:solidFill>
                  <a:srgbClr val="00B050"/>
                </a:solidFill>
              </a:rPr>
              <a:t>Integration, Testing &amp; </a:t>
            </a:r>
            <a:r>
              <a:rPr lang="en-US" sz="2000" b="1" dirty="0" smtClean="0">
                <a:solidFill>
                  <a:srgbClr val="00B050"/>
                </a:solidFill>
              </a:rPr>
              <a:t>Deployment</a:t>
            </a:r>
            <a:r>
              <a:rPr lang="en-US" sz="2000" b="1" dirty="0" smtClean="0"/>
              <a:t>: </a:t>
            </a:r>
            <a:r>
              <a:rPr lang="en-US" sz="2000" b="1" dirty="0"/>
              <a:t>Combine drones, Dew Nodes, and AI software into a unified system, followed by extensive testing. Train farmers to use the technology effectively for real-world agricultural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pSp>
        <p:nvGrpSpPr>
          <p:cNvPr id="15" name="Group 14">
            <a:extLst>
              <a:ext uri="{FF2B5EF4-FFF2-40B4-BE49-F238E27FC236}">
                <a16:creationId xmlns="" xmlns:a16="http://schemas.microsoft.com/office/drawing/2014/main" id="{90D954CE-E545-9049-FAF7-11C8E9C930D0}"/>
              </a:ext>
            </a:extLst>
          </p:cNvPr>
          <p:cNvGrpSpPr/>
          <p:nvPr/>
        </p:nvGrpSpPr>
        <p:grpSpPr>
          <a:xfrm>
            <a:off x="0" y="0"/>
            <a:ext cx="18287999" cy="10287000"/>
            <a:chOff x="0" y="0"/>
            <a:chExt cx="18287999" cy="10287000"/>
          </a:xfrm>
        </p:grpSpPr>
        <p:pic>
          <p:nvPicPr>
            <p:cNvPr id="9" name="Google Shape;116;p6">
              <a:extLst>
                <a:ext uri="{FF2B5EF4-FFF2-40B4-BE49-F238E27FC236}">
                  <a16:creationId xmlns="" xmlns:a16="http://schemas.microsoft.com/office/drawing/2014/main" id="{C516C475-D5C4-2500-EC86-19AF338B3932}"/>
                </a:ext>
              </a:extLst>
            </p:cNvPr>
            <p:cNvPicPr preferRelativeResize="0"/>
            <p:nvPr/>
          </p:nvPicPr>
          <p:blipFill rotWithShape="1">
            <a:blip r:embed="rId3">
              <a:alphaModFix/>
            </a:blip>
            <a:srcRect t="88358" r="17836"/>
            <a:stretch/>
          </p:blipFill>
          <p:spPr>
            <a:xfrm>
              <a:off x="0" y="9578528"/>
              <a:ext cx="7611873" cy="708472"/>
            </a:xfrm>
            <a:prstGeom prst="rect">
              <a:avLst/>
            </a:prstGeom>
            <a:noFill/>
            <a:ln>
              <a:noFill/>
            </a:ln>
          </p:spPr>
        </p:pic>
        <p:pic>
          <p:nvPicPr>
            <p:cNvPr id="10" name="Google Shape;116;p6">
              <a:extLst>
                <a:ext uri="{FF2B5EF4-FFF2-40B4-BE49-F238E27FC236}">
                  <a16:creationId xmlns="" xmlns:a16="http://schemas.microsoft.com/office/drawing/2014/main" id="{254E6B6C-98BF-448B-350E-02D0E7658B04}"/>
                </a:ext>
              </a:extLst>
            </p:cNvPr>
            <p:cNvPicPr preferRelativeResize="0"/>
            <p:nvPr/>
          </p:nvPicPr>
          <p:blipFill rotWithShape="1">
            <a:blip r:embed="rId3">
              <a:alphaModFix/>
            </a:blip>
            <a:srcRect l="82520" t="11314"/>
            <a:stretch/>
          </p:blipFill>
          <p:spPr>
            <a:xfrm>
              <a:off x="16107436" y="1163955"/>
              <a:ext cx="2180563" cy="9123044"/>
            </a:xfrm>
            <a:prstGeom prst="rect">
              <a:avLst/>
            </a:prstGeom>
            <a:noFill/>
            <a:ln>
              <a:noFill/>
            </a:ln>
          </p:spPr>
        </p:pic>
        <p:pic>
          <p:nvPicPr>
            <p:cNvPr id="116" name="Google Shape;116;p6"/>
            <p:cNvPicPr preferRelativeResize="0"/>
            <p:nvPr/>
          </p:nvPicPr>
          <p:blipFill rotWithShape="1">
            <a:blip r:embed="rId3">
              <a:alphaModFix/>
            </a:blip>
            <a:srcRect r="15747" b="11642"/>
            <a:stretch/>
          </p:blipFill>
          <p:spPr>
            <a:xfrm>
              <a:off x="0" y="0"/>
              <a:ext cx="15408322" cy="9089409"/>
            </a:xfrm>
            <a:prstGeom prst="rect">
              <a:avLst/>
            </a:prstGeom>
            <a:noFill/>
            <a:ln>
              <a:noFill/>
            </a:ln>
          </p:spPr>
        </p:pic>
      </p:grpSp>
      <p:sp>
        <p:nvSpPr>
          <p:cNvPr id="117" name="Google Shape;117;p6"/>
          <p:cNvSpPr txBox="1"/>
          <p:nvPr/>
        </p:nvSpPr>
        <p:spPr>
          <a:xfrm>
            <a:off x="7803437" y="714075"/>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u="sng" dirty="0">
                <a:solidFill>
                  <a:schemeClr val="dk1"/>
                </a:solidFill>
              </a:rPr>
              <a:t>Prototype</a:t>
            </a:r>
            <a:endParaRPr sz="4000" b="1" i="0" u="sng" strike="noStrike" cap="none" dirty="0">
              <a:solidFill>
                <a:schemeClr val="dk1"/>
              </a:solidFill>
              <a:latin typeface="Arial"/>
              <a:ea typeface="Arial"/>
              <a:cs typeface="Arial"/>
              <a:sym typeface="Arial"/>
            </a:endParaRPr>
          </a:p>
        </p:txBody>
      </p:sp>
      <p:pic>
        <p:nvPicPr>
          <p:cNvPr id="119" name="Google Shape;119;p6"/>
          <p:cNvPicPr preferRelativeResize="0"/>
          <p:nvPr/>
        </p:nvPicPr>
        <p:blipFill>
          <a:blip r:embed="rId4">
            <a:alphaModFix/>
          </a:blip>
          <a:stretch>
            <a:fillRect/>
          </a:stretch>
        </p:blipFill>
        <p:spPr>
          <a:xfrm>
            <a:off x="13555400" y="152400"/>
            <a:ext cx="3612700" cy="1300575"/>
          </a:xfrm>
          <a:prstGeom prst="rect">
            <a:avLst/>
          </a:prstGeom>
          <a:noFill/>
          <a:ln>
            <a:noFill/>
          </a:ln>
        </p:spPr>
      </p:pic>
      <p:sp>
        <p:nvSpPr>
          <p:cNvPr id="6" name="Rectangle 5">
            <a:extLst>
              <a:ext uri="{FF2B5EF4-FFF2-40B4-BE49-F238E27FC236}">
                <a16:creationId xmlns="" xmlns:a16="http://schemas.microsoft.com/office/drawing/2014/main" id="{8E5772CC-8FB0-6405-9E3F-169155BB5B0A}"/>
              </a:ext>
            </a:extLst>
          </p:cNvPr>
          <p:cNvSpPr>
            <a:spLocks noChangeArrowheads="1"/>
          </p:cNvSpPr>
          <p:nvPr/>
        </p:nvSpPr>
        <p:spPr bwMode="auto">
          <a:xfrm>
            <a:off x="386595" y="1615604"/>
            <a:ext cx="1613059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Font typeface="Arial" panose="020B0604020202020204" pitchFamily="34" charset="0"/>
              <a:buChar char="•"/>
            </a:pPr>
            <a:r>
              <a:rPr lang="en-US" sz="2200" b="1" dirty="0">
                <a:solidFill>
                  <a:srgbClr val="00B050"/>
                </a:solidFill>
              </a:rPr>
              <a:t>Advanced Sensor-Equipped Drones</a:t>
            </a:r>
            <a:r>
              <a:rPr lang="en-US" sz="2200" b="1" dirty="0">
                <a:solidFill>
                  <a:schemeClr val="tx1"/>
                </a:solidFill>
              </a:rPr>
              <a:t>:</a:t>
            </a:r>
            <a:r>
              <a:rPr lang="en-US" sz="2200" dirty="0">
                <a:solidFill>
                  <a:schemeClr val="tx1"/>
                </a:solidFill>
              </a:rPr>
              <a:t> </a:t>
            </a:r>
            <a:r>
              <a:rPr lang="en-US" sz="2200" dirty="0"/>
              <a:t>Our prototype leverages aerial robotics, AI, and </a:t>
            </a:r>
            <a:r>
              <a:rPr lang="en-US" sz="2200" dirty="0" err="1"/>
              <a:t>IoT</a:t>
            </a:r>
            <a:r>
              <a:rPr lang="en-US" sz="2200" dirty="0"/>
              <a:t> to revolutionize farm monitoring, ensuring efficient and data-driven agricultural practices.</a:t>
            </a:r>
          </a:p>
          <a:p>
            <a:pPr marL="457200" indent="-457200" algn="just">
              <a:buFont typeface="Arial" panose="020B0604020202020204" pitchFamily="34" charset="0"/>
              <a:buChar char="•"/>
            </a:pPr>
            <a:endParaRPr lang="en-US" sz="2200" b="1" dirty="0"/>
          </a:p>
          <a:p>
            <a:pPr marL="457200" indent="-457200" algn="just">
              <a:buFont typeface="Arial" panose="020B0604020202020204" pitchFamily="34" charset="0"/>
              <a:buChar char="•"/>
            </a:pPr>
            <a:r>
              <a:rPr lang="en-US" sz="2200" b="1" dirty="0">
                <a:solidFill>
                  <a:srgbClr val="00B050"/>
                </a:solidFill>
              </a:rPr>
              <a:t>AI-Powered Precision Farming</a:t>
            </a:r>
            <a:r>
              <a:rPr lang="en-US" sz="2200" b="1" dirty="0">
                <a:solidFill>
                  <a:schemeClr val="tx1"/>
                </a:solidFill>
              </a:rPr>
              <a:t>:</a:t>
            </a:r>
            <a:r>
              <a:rPr lang="en-US" sz="2200" dirty="0">
                <a:solidFill>
                  <a:schemeClr val="tx1"/>
                </a:solidFill>
              </a:rPr>
              <a:t>  </a:t>
            </a:r>
            <a:r>
              <a:rPr lang="en-US" sz="2200" dirty="0"/>
              <a:t>Integrating machine learning and aerial imaging, the system detects crop health issues, pest infestations, and livestock movement for timely interventions.</a:t>
            </a:r>
          </a:p>
          <a:p>
            <a:pPr marL="457200" indent="-457200" algn="just">
              <a:buFont typeface="Arial" panose="020B0604020202020204" pitchFamily="34" charset="0"/>
              <a:buChar char="•"/>
            </a:pPr>
            <a:endParaRPr lang="en-US" sz="2200" b="1" dirty="0"/>
          </a:p>
          <a:p>
            <a:pPr marL="457200" indent="-457200" algn="just">
              <a:buFont typeface="Arial" panose="020B0604020202020204" pitchFamily="34" charset="0"/>
              <a:buChar char="•"/>
            </a:pPr>
            <a:r>
              <a:rPr lang="en-US" sz="2200" b="1" dirty="0">
                <a:solidFill>
                  <a:srgbClr val="00B050"/>
                </a:solidFill>
              </a:rPr>
              <a:t>Real-Time Farm Intelligence</a:t>
            </a:r>
            <a:r>
              <a:rPr lang="en-US" sz="2200" b="1" dirty="0">
                <a:solidFill>
                  <a:schemeClr val="tx1"/>
                </a:solidFill>
              </a:rPr>
              <a:t>:</a:t>
            </a:r>
            <a:r>
              <a:rPr lang="en-US" sz="2200" dirty="0">
                <a:solidFill>
                  <a:schemeClr val="tx1"/>
                </a:solidFill>
              </a:rPr>
              <a:t> </a:t>
            </a:r>
            <a:r>
              <a:rPr lang="en-US" sz="2200" dirty="0"/>
              <a:t>Multispectral and thermal imaging helps identify crop stress, nutrient deficiencies, and early disease symptoms. AI models classify infections as fungal, bacterial, or viral, enabling targeted treatment.</a:t>
            </a:r>
          </a:p>
          <a:p>
            <a:pPr algn="just"/>
            <a:endParaRPr lang="en-US" sz="2200" b="1" dirty="0">
              <a:solidFill>
                <a:srgbClr val="00B050"/>
              </a:solidFill>
            </a:endParaRPr>
          </a:p>
          <a:p>
            <a:pPr marL="457200" indent="-457200" algn="just">
              <a:buFont typeface="Arial" panose="020B0604020202020204" pitchFamily="34" charset="0"/>
              <a:buChar char="•"/>
            </a:pPr>
            <a:r>
              <a:rPr lang="en-US" sz="2200" b="1" dirty="0">
                <a:solidFill>
                  <a:srgbClr val="00B050"/>
                </a:solidFill>
              </a:rPr>
              <a:t>Dew Nodes for Soil Health Monitoring</a:t>
            </a:r>
            <a:r>
              <a:rPr lang="en-US" sz="2200" b="1" dirty="0">
                <a:solidFill>
                  <a:schemeClr val="tx1"/>
                </a:solidFill>
              </a:rPr>
              <a:t>:</a:t>
            </a:r>
            <a:r>
              <a:rPr lang="en-US" sz="2200" dirty="0">
                <a:solidFill>
                  <a:schemeClr val="tx1"/>
                </a:solidFill>
              </a:rPr>
              <a:t> </a:t>
            </a:r>
            <a:r>
              <a:rPr lang="en-US" sz="2200" dirty="0"/>
              <a:t>Ground-based smart sensors track soil nutrients, moisture levels, and environmental factors, offering comprehensive farm data when combined with drone analytics.</a:t>
            </a:r>
          </a:p>
          <a:p>
            <a:pPr marL="457200" indent="-457200" algn="just">
              <a:buFont typeface="Arial" panose="020B0604020202020204" pitchFamily="34" charset="0"/>
              <a:buChar char="•"/>
            </a:pPr>
            <a:endParaRPr lang="en-US" sz="2200" b="1" dirty="0"/>
          </a:p>
          <a:p>
            <a:pPr marL="457200" indent="-457200" algn="just">
              <a:buFont typeface="Arial" panose="020B0604020202020204" pitchFamily="34" charset="0"/>
              <a:buChar char="•"/>
            </a:pPr>
            <a:r>
              <a:rPr lang="en-US" sz="2200" b="1" dirty="0">
                <a:solidFill>
                  <a:srgbClr val="00B050"/>
                </a:solidFill>
              </a:rPr>
              <a:t>Seamless Agricultural </a:t>
            </a:r>
            <a:r>
              <a:rPr lang="en-US" sz="2200" b="1" dirty="0" smtClean="0">
                <a:solidFill>
                  <a:srgbClr val="00B050"/>
                </a:solidFill>
              </a:rPr>
              <a:t>Integration</a:t>
            </a:r>
            <a:r>
              <a:rPr lang="en-US" sz="2200" b="1" dirty="0" smtClean="0">
                <a:solidFill>
                  <a:schemeClr val="tx1"/>
                </a:solidFill>
              </a:rPr>
              <a:t>:</a:t>
            </a:r>
            <a:r>
              <a:rPr lang="en-US" sz="2200" dirty="0" smtClean="0">
                <a:solidFill>
                  <a:schemeClr val="tx1"/>
                </a:solidFill>
              </a:rPr>
              <a:t> </a:t>
            </a:r>
            <a:r>
              <a:rPr lang="en-US" sz="2200" dirty="0"/>
              <a:t>Designed with a user-friendly interface, the system ensures easy adoption, allowing farmers to make informed decisions with minimal technical expertise.</a:t>
            </a:r>
          </a:p>
        </p:txBody>
      </p:sp>
      <p:sp>
        <p:nvSpPr>
          <p:cNvPr id="4" name="Freeform 9">
            <a:extLst>
              <a:ext uri="{FF2B5EF4-FFF2-40B4-BE49-F238E27FC236}">
                <a16:creationId xmlns="" xmlns:a16="http://schemas.microsoft.com/office/drawing/2014/main" id="{CD799D76-CA7D-21D5-82ED-3D2FFE251378}"/>
              </a:ext>
            </a:extLst>
          </p:cNvPr>
          <p:cNvSpPr/>
          <p:nvPr/>
        </p:nvSpPr>
        <p:spPr>
          <a:xfrm>
            <a:off x="8613083" y="6924750"/>
            <a:ext cx="7611873" cy="3262769"/>
          </a:xfrm>
          <a:custGeom>
            <a:avLst/>
            <a:gdLst/>
            <a:ahLst/>
            <a:cxnLst/>
            <a:rect l="l" t="t" r="r" b="b"/>
            <a:pathLst>
              <a:path w="7272975" h="3400116">
                <a:moveTo>
                  <a:pt x="0" y="0"/>
                </a:moveTo>
                <a:lnTo>
                  <a:pt x="7272974" y="0"/>
                </a:lnTo>
                <a:lnTo>
                  <a:pt x="7272974" y="3400116"/>
                </a:lnTo>
                <a:lnTo>
                  <a:pt x="0" y="3400116"/>
                </a:lnTo>
                <a:lnTo>
                  <a:pt x="0" y="0"/>
                </a:lnTo>
                <a:close/>
              </a:path>
            </a:pathLst>
          </a:custGeom>
          <a:blipFill>
            <a:blip r:embed="rId5"/>
            <a:stretch>
              <a:fillRect/>
            </a:stretch>
          </a:blipFill>
        </p:spPr>
        <p:txBody>
          <a:bodyPr/>
          <a:lstStyle/>
          <a:p>
            <a:endParaRPr lang="en-IN"/>
          </a:p>
        </p:txBody>
      </p:sp>
      <p:grpSp>
        <p:nvGrpSpPr>
          <p:cNvPr id="7" name="Group 6">
            <a:extLst>
              <a:ext uri="{FF2B5EF4-FFF2-40B4-BE49-F238E27FC236}">
                <a16:creationId xmlns="" xmlns:a16="http://schemas.microsoft.com/office/drawing/2014/main" id="{00968066-60E0-9148-E5B0-B48231F8DBD2}"/>
              </a:ext>
            </a:extLst>
          </p:cNvPr>
          <p:cNvGrpSpPr/>
          <p:nvPr/>
        </p:nvGrpSpPr>
        <p:grpSpPr>
          <a:xfrm>
            <a:off x="693848" y="6962934"/>
            <a:ext cx="6918025" cy="2958305"/>
            <a:chOff x="9816850" y="2950766"/>
            <a:chExt cx="6336667" cy="2986504"/>
          </a:xfrm>
        </p:grpSpPr>
        <p:pic>
          <p:nvPicPr>
            <p:cNvPr id="2" name="Picture 1">
              <a:extLst>
                <a:ext uri="{FF2B5EF4-FFF2-40B4-BE49-F238E27FC236}">
                  <a16:creationId xmlns="" xmlns:a16="http://schemas.microsoft.com/office/drawing/2014/main" id="{84E67861-F1C5-5624-2826-7F51C3E3A154}"/>
                </a:ext>
              </a:extLst>
            </p:cNvPr>
            <p:cNvPicPr>
              <a:picLocks noChangeAspect="1"/>
            </p:cNvPicPr>
            <p:nvPr/>
          </p:nvPicPr>
          <p:blipFill>
            <a:blip r:embed="rId6">
              <a:extLst>
                <a:ext uri="{28A0092B-C50C-407E-A947-70E740481C1C}">
                  <a14:useLocalDpi xmlns:a14="http://schemas.microsoft.com/office/drawing/2010/main" val="0"/>
                </a:ext>
              </a:extLst>
            </a:blip>
            <a:srcRect b="11961"/>
            <a:stretch/>
          </p:blipFill>
          <p:spPr>
            <a:xfrm>
              <a:off x="9816850" y="2950766"/>
              <a:ext cx="2624618" cy="13011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 xmlns:a16="http://schemas.microsoft.com/office/drawing/2014/main" id="{EEFFD84D-86CB-6FC7-C19F-C84DB40A9ED8}"/>
                </a:ext>
              </a:extLst>
            </p:cNvPr>
            <p:cNvPicPr>
              <a:picLocks noChangeAspect="1"/>
            </p:cNvPicPr>
            <p:nvPr/>
          </p:nvPicPr>
          <p:blipFill>
            <a:blip r:embed="rId7"/>
            <a:srcRect/>
            <a:stretch/>
          </p:blipFill>
          <p:spPr>
            <a:xfrm>
              <a:off x="12640025" y="2950766"/>
              <a:ext cx="3513492" cy="29192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 xmlns:a16="http://schemas.microsoft.com/office/drawing/2014/main" id="{24CF5CB0-F705-C59E-752F-5900C97F5C35}"/>
                </a:ext>
              </a:extLst>
            </p:cNvPr>
            <p:cNvPicPr>
              <a:picLocks noChangeAspect="1"/>
            </p:cNvPicPr>
            <p:nvPr/>
          </p:nvPicPr>
          <p:blipFill>
            <a:blip r:embed="rId8"/>
            <a:srcRect l="7370"/>
            <a:stretch/>
          </p:blipFill>
          <p:spPr>
            <a:xfrm>
              <a:off x="9816850" y="4468076"/>
              <a:ext cx="2624618" cy="14691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sp>
        <p:nvSpPr>
          <p:cNvPr id="8" name="TextBox 7">
            <a:extLst>
              <a:ext uri="{FF2B5EF4-FFF2-40B4-BE49-F238E27FC236}">
                <a16:creationId xmlns="" xmlns:a16="http://schemas.microsoft.com/office/drawing/2014/main" id="{AA975589-8332-221F-156E-C4C32204A035}"/>
              </a:ext>
            </a:extLst>
          </p:cNvPr>
          <p:cNvSpPr txBox="1"/>
          <p:nvPr/>
        </p:nvSpPr>
        <p:spPr>
          <a:xfrm>
            <a:off x="8451891" y="6489636"/>
            <a:ext cx="3196709" cy="477054"/>
          </a:xfrm>
          <a:prstGeom prst="rect">
            <a:avLst/>
          </a:prstGeom>
          <a:noFill/>
        </p:spPr>
        <p:txBody>
          <a:bodyPr wrap="none" rtlCol="0">
            <a:spAutoFit/>
          </a:bodyPr>
          <a:lstStyle/>
          <a:p>
            <a:r>
              <a:rPr lang="en-US" sz="2500" b="1" u="sng" dirty="0">
                <a:solidFill>
                  <a:schemeClr val="accent4">
                    <a:lumMod val="50000"/>
                  </a:schemeClr>
                </a:solidFill>
              </a:rPr>
              <a:t>Our Assistant App :</a:t>
            </a:r>
            <a:endParaRPr lang="en-IN" sz="2500" b="1" u="sng" dirty="0">
              <a:solidFill>
                <a:schemeClr val="accent4">
                  <a:lumMod val="50000"/>
                </a:schemeClr>
              </a:solidFill>
            </a:endParaRPr>
          </a:p>
        </p:txBody>
      </p:sp>
      <p:sp>
        <p:nvSpPr>
          <p:cNvPr id="12" name="TextBox 11">
            <a:extLst>
              <a:ext uri="{FF2B5EF4-FFF2-40B4-BE49-F238E27FC236}">
                <a16:creationId xmlns="" xmlns:a16="http://schemas.microsoft.com/office/drawing/2014/main" id="{9D182FC2-754B-AD6B-ED3F-2BF7F39A3867}"/>
              </a:ext>
            </a:extLst>
          </p:cNvPr>
          <p:cNvSpPr txBox="1"/>
          <p:nvPr/>
        </p:nvSpPr>
        <p:spPr>
          <a:xfrm>
            <a:off x="495728" y="6447697"/>
            <a:ext cx="9204960" cy="477054"/>
          </a:xfrm>
          <a:prstGeom prst="rect">
            <a:avLst/>
          </a:prstGeom>
          <a:noFill/>
        </p:spPr>
        <p:txBody>
          <a:bodyPr wrap="square">
            <a:spAutoFit/>
          </a:bodyPr>
          <a:lstStyle/>
          <a:p>
            <a:r>
              <a:rPr lang="en-US" sz="2500" b="1" u="sng">
                <a:solidFill>
                  <a:schemeClr val="accent4">
                    <a:lumMod val="50000"/>
                  </a:schemeClr>
                </a:solidFill>
              </a:rPr>
              <a:t>Our Prototype Model :</a:t>
            </a:r>
            <a:endParaRPr lang="en-IN" sz="2500" b="1" u="sng">
              <a:solidFill>
                <a:schemeClr val="accent4">
                  <a:lumMod val="50000"/>
                </a:schemeClr>
              </a:solidFill>
            </a:endParaRPr>
          </a:p>
        </p:txBody>
      </p:sp>
      <p:cxnSp>
        <p:nvCxnSpPr>
          <p:cNvPr id="14" name="Straight Connector 13">
            <a:extLst>
              <a:ext uri="{FF2B5EF4-FFF2-40B4-BE49-F238E27FC236}">
                <a16:creationId xmlns="" xmlns:a16="http://schemas.microsoft.com/office/drawing/2014/main" id="{095EE7FD-D0D9-E317-927F-C04590745D7A}"/>
              </a:ext>
            </a:extLst>
          </p:cNvPr>
          <p:cNvCxnSpPr/>
          <p:nvPr/>
        </p:nvCxnSpPr>
        <p:spPr>
          <a:xfrm>
            <a:off x="8162563" y="7159596"/>
            <a:ext cx="0" cy="2612642"/>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A721EA92-D770-F2E1-CBE1-6C88CEE45A78}"/>
              </a:ext>
            </a:extLst>
          </p:cNvPr>
          <p:cNvPicPr>
            <a:picLocks noChangeAspect="1"/>
          </p:cNvPicPr>
          <p:nvPr/>
        </p:nvPicPr>
        <p:blipFill rotWithShape="1">
          <a:blip r:embed="rId2">
            <a:extLst>
              <a:ext uri="{28A0092B-C50C-407E-A947-70E740481C1C}">
                <a14:useLocalDpi xmlns:a14="http://schemas.microsoft.com/office/drawing/2010/main" val="0"/>
              </a:ext>
            </a:extLst>
          </a:blip>
          <a:srcRect l="18919" t="15733" r="18682" b="15333"/>
          <a:stretch/>
        </p:blipFill>
        <p:spPr>
          <a:xfrm>
            <a:off x="0" y="0"/>
            <a:ext cx="18288000" cy="10287000"/>
          </a:xfrm>
          <a:prstGeom prst="rect">
            <a:avLst/>
          </a:prstGeom>
        </p:spPr>
      </p:pic>
      <p:pic>
        <p:nvPicPr>
          <p:cNvPr id="5" name="Picture 4">
            <a:extLst>
              <a:ext uri="{FF2B5EF4-FFF2-40B4-BE49-F238E27FC236}">
                <a16:creationId xmlns="" xmlns:a16="http://schemas.microsoft.com/office/drawing/2014/main" id="{ED7CC0DE-D3F9-DE76-2EE8-D1A06541E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3303" y="1097280"/>
            <a:ext cx="7201277" cy="3115056"/>
          </a:xfrm>
          <a:prstGeom prst="rect">
            <a:avLst/>
          </a:prstGeom>
        </p:spPr>
      </p:pic>
      <p:pic>
        <p:nvPicPr>
          <p:cNvPr id="6" name="Picture 5">
            <a:extLst>
              <a:ext uri="{FF2B5EF4-FFF2-40B4-BE49-F238E27FC236}">
                <a16:creationId xmlns="" xmlns:a16="http://schemas.microsoft.com/office/drawing/2014/main" id="{2DF43386-A301-AA98-12ED-CCD4E33067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3302" y="4443984"/>
            <a:ext cx="5900166" cy="3950208"/>
          </a:xfrm>
          <a:prstGeom prst="rect">
            <a:avLst/>
          </a:prstGeom>
        </p:spPr>
      </p:pic>
      <p:pic>
        <p:nvPicPr>
          <p:cNvPr id="7" name="Picture 6">
            <a:extLst>
              <a:ext uri="{FF2B5EF4-FFF2-40B4-BE49-F238E27FC236}">
                <a16:creationId xmlns="" xmlns:a16="http://schemas.microsoft.com/office/drawing/2014/main" id="{647AE0D3-0FBD-1327-7561-D852D79455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3999" y="1623060"/>
            <a:ext cx="7239752" cy="2589276"/>
          </a:xfrm>
          <a:prstGeom prst="rect">
            <a:avLst/>
          </a:prstGeom>
        </p:spPr>
      </p:pic>
      <p:sp>
        <p:nvSpPr>
          <p:cNvPr id="8" name="Rectangle 7">
            <a:extLst>
              <a:ext uri="{FF2B5EF4-FFF2-40B4-BE49-F238E27FC236}">
                <a16:creationId xmlns="" xmlns:a16="http://schemas.microsoft.com/office/drawing/2014/main" id="{BF7735D7-3F94-752D-16CF-86CAC07362F2}"/>
              </a:ext>
            </a:extLst>
          </p:cNvPr>
          <p:cNvSpPr/>
          <p:nvPr/>
        </p:nvSpPr>
        <p:spPr>
          <a:xfrm>
            <a:off x="8845944" y="4443984"/>
            <a:ext cx="7769580" cy="482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00" b="1" dirty="0">
              <a:latin typeface="Agency FB" panose="020B0503020202020204" pitchFamily="34" charset="0"/>
            </a:endParaRPr>
          </a:p>
          <a:p>
            <a:pPr algn="ctr"/>
            <a:r>
              <a:rPr lang="en-US" sz="4200" b="1" dirty="0">
                <a:latin typeface="Agency FB" panose="020B0503020202020204" pitchFamily="34" charset="0"/>
              </a:rPr>
              <a:t>CATTLE DETECTION AND MANAGEMENT SYSTEM:</a:t>
            </a:r>
          </a:p>
          <a:p>
            <a:pPr marL="514350" indent="-514350" algn="ctr">
              <a:buAutoNum type="arabicPeriod"/>
            </a:pPr>
            <a:r>
              <a:rPr lang="en-US" sz="4200" b="1" dirty="0">
                <a:latin typeface="Agency FB" panose="020B0503020202020204" pitchFamily="34" charset="0"/>
              </a:rPr>
              <a:t>HELPS IN ANALYSIS CATTLE DISEASE</a:t>
            </a:r>
          </a:p>
          <a:p>
            <a:pPr marL="514350" indent="-514350" algn="ctr">
              <a:buAutoNum type="arabicPeriod"/>
            </a:pPr>
            <a:r>
              <a:rPr lang="en-US" sz="4200" b="1" dirty="0">
                <a:latin typeface="Agency FB" panose="020B0503020202020204" pitchFamily="34" charset="0"/>
              </a:rPr>
              <a:t>HELPS IN KNOWING THEIR BREEDING AND FOOD CYCLE</a:t>
            </a:r>
          </a:p>
          <a:p>
            <a:pPr marL="514350" indent="-514350" algn="ctr">
              <a:buAutoNum type="arabicPeriod"/>
            </a:pPr>
            <a:r>
              <a:rPr lang="en-US" sz="4200" b="1" dirty="0">
                <a:latin typeface="Agency FB" panose="020B0503020202020204" pitchFamily="34" charset="0"/>
              </a:rPr>
              <a:t>HELPS IN ANALYSING THEIR BEHAVIOURS </a:t>
            </a:r>
          </a:p>
          <a:p>
            <a:pPr algn="ctr"/>
            <a:endParaRPr lang="en-IN" sz="3000" b="1" dirty="0">
              <a:latin typeface="Agency FB" panose="020B0503020202020204" pitchFamily="34" charset="0"/>
            </a:endParaRPr>
          </a:p>
        </p:txBody>
      </p:sp>
    </p:spTree>
    <p:extLst>
      <p:ext uri="{BB962C8B-B14F-4D97-AF65-F5344CB8AC3E}">
        <p14:creationId xmlns:p14="http://schemas.microsoft.com/office/powerpoint/2010/main" val="2854710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7AE7D6-40B9-ADB5-C0E9-017F45224449}"/>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 xmlns:a16="http://schemas.microsoft.com/office/drawing/2014/main" id="{26DE5858-7C9F-9997-0CD2-353753DDEAF0}"/>
              </a:ext>
            </a:extLst>
          </p:cNvPr>
          <p:cNvSpPr>
            <a:spLocks noGrp="1"/>
          </p:cNvSpPr>
          <p:nvPr>
            <p:ph type="body" idx="1"/>
          </p:nvPr>
        </p:nvSpPr>
        <p:spPr/>
        <p:txBody>
          <a:bodyPr/>
          <a:lstStyle/>
          <a:p>
            <a:endParaRPr lang="en-IN"/>
          </a:p>
        </p:txBody>
      </p:sp>
      <p:pic>
        <p:nvPicPr>
          <p:cNvPr id="4" name="Picture 2" descr="https://i.pinimg.com/originals/3b/41/74/3b4174ec8224442b47b3418553b75556.jpg">
            <a:extLst>
              <a:ext uri="{FF2B5EF4-FFF2-40B4-BE49-F238E27FC236}">
                <a16:creationId xmlns="" xmlns:a16="http://schemas.microsoft.com/office/drawing/2014/main" id="{32B5239F-328F-F508-3E8C-4FC4196EEA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979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 xmlns:a16="http://schemas.microsoft.com/office/drawing/2014/main" id="{3DCFE9FF-2F9D-41B6-BF41-6132EAE89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901" y="2342344"/>
            <a:ext cx="4065306" cy="3033344"/>
          </a:xfrm>
          <a:prstGeom prst="rect">
            <a:avLst/>
          </a:prstGeom>
        </p:spPr>
      </p:pic>
      <p:pic>
        <p:nvPicPr>
          <p:cNvPr id="6" name="Picture 5">
            <a:extLst>
              <a:ext uri="{FF2B5EF4-FFF2-40B4-BE49-F238E27FC236}">
                <a16:creationId xmlns="" xmlns:a16="http://schemas.microsoft.com/office/drawing/2014/main" id="{96D79C09-8FA2-0BFE-1FD3-0847B94AFE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61324" y="2332304"/>
            <a:ext cx="3442187" cy="3053421"/>
          </a:xfrm>
          <a:prstGeom prst="rect">
            <a:avLst/>
          </a:prstGeom>
        </p:spPr>
      </p:pic>
      <p:sp>
        <p:nvSpPr>
          <p:cNvPr id="7" name="Rectangle 6">
            <a:extLst>
              <a:ext uri="{FF2B5EF4-FFF2-40B4-BE49-F238E27FC236}">
                <a16:creationId xmlns="" xmlns:a16="http://schemas.microsoft.com/office/drawing/2014/main" id="{13282141-EB9F-30A2-B908-F4C01557687C}"/>
              </a:ext>
            </a:extLst>
          </p:cNvPr>
          <p:cNvSpPr/>
          <p:nvPr/>
        </p:nvSpPr>
        <p:spPr>
          <a:xfrm>
            <a:off x="11816863" y="2453053"/>
            <a:ext cx="4246682" cy="1598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b="1" dirty="0">
                <a:latin typeface="Agency FB" panose="020B0503020202020204" pitchFamily="34" charset="0"/>
              </a:rPr>
              <a:t>Crop and weed Classification for cultivating and Analysis  </a:t>
            </a:r>
            <a:endParaRPr lang="en-IN" sz="2100" b="1" dirty="0">
              <a:latin typeface="Agency FB" panose="020B0503020202020204" pitchFamily="34" charset="0"/>
            </a:endParaRPr>
          </a:p>
        </p:txBody>
      </p:sp>
      <p:sp>
        <p:nvSpPr>
          <p:cNvPr id="8" name="Rectangle 7">
            <a:extLst>
              <a:ext uri="{FF2B5EF4-FFF2-40B4-BE49-F238E27FC236}">
                <a16:creationId xmlns="" xmlns:a16="http://schemas.microsoft.com/office/drawing/2014/main" id="{25F85AA1-8697-D377-B33C-1ADF45AEBBD6}"/>
              </a:ext>
            </a:extLst>
          </p:cNvPr>
          <p:cNvSpPr/>
          <p:nvPr/>
        </p:nvSpPr>
        <p:spPr>
          <a:xfrm>
            <a:off x="4853354" y="781142"/>
            <a:ext cx="8598878" cy="691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100"/>
          </a:p>
        </p:txBody>
      </p:sp>
      <p:sp>
        <p:nvSpPr>
          <p:cNvPr id="9" name="Rectangle 8">
            <a:extLst>
              <a:ext uri="{FF2B5EF4-FFF2-40B4-BE49-F238E27FC236}">
                <a16:creationId xmlns="" xmlns:a16="http://schemas.microsoft.com/office/drawing/2014/main" id="{8F0F4C8C-6202-C31D-96B7-10F1AC0BD0CE}"/>
              </a:ext>
            </a:extLst>
          </p:cNvPr>
          <p:cNvSpPr/>
          <p:nvPr/>
        </p:nvSpPr>
        <p:spPr>
          <a:xfrm>
            <a:off x="11816858" y="6097385"/>
            <a:ext cx="4352196" cy="2158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b="1" dirty="0">
                <a:latin typeface="Agency FB" panose="020B0503020202020204" pitchFamily="34" charset="0"/>
              </a:rPr>
              <a:t>Helps us in analyzing the crop disease and the location where it is occurring by dew analysis and solution at the fingertips</a:t>
            </a:r>
            <a:endParaRPr lang="en-IN" sz="2100" b="1" dirty="0">
              <a:latin typeface="Agency FB" panose="020B0503020202020204" pitchFamily="34" charset="0"/>
            </a:endParaRPr>
          </a:p>
        </p:txBody>
      </p:sp>
      <p:sp>
        <p:nvSpPr>
          <p:cNvPr id="10" name="Rectangle 9">
            <a:extLst>
              <a:ext uri="{FF2B5EF4-FFF2-40B4-BE49-F238E27FC236}">
                <a16:creationId xmlns="" xmlns:a16="http://schemas.microsoft.com/office/drawing/2014/main" id="{F99AD0CF-0C99-2018-D154-614173DB7D3C}"/>
              </a:ext>
            </a:extLst>
          </p:cNvPr>
          <p:cNvSpPr/>
          <p:nvPr/>
        </p:nvSpPr>
        <p:spPr>
          <a:xfrm>
            <a:off x="11816858" y="4273063"/>
            <a:ext cx="4246686" cy="16023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b="1" dirty="0">
                <a:latin typeface="Agency FB" panose="020B0503020202020204" pitchFamily="34" charset="0"/>
              </a:rPr>
              <a:t>Helps us in stress and strain analysis and also among good and bad crops </a:t>
            </a:r>
            <a:endParaRPr lang="en-IN" sz="2100" b="1" dirty="0">
              <a:latin typeface="Agency FB" panose="020B0503020202020204" pitchFamily="34" charset="0"/>
            </a:endParaRPr>
          </a:p>
        </p:txBody>
      </p:sp>
      <p:sp>
        <p:nvSpPr>
          <p:cNvPr id="11" name="TextBox 10">
            <a:extLst>
              <a:ext uri="{FF2B5EF4-FFF2-40B4-BE49-F238E27FC236}">
                <a16:creationId xmlns="" xmlns:a16="http://schemas.microsoft.com/office/drawing/2014/main" id="{BAD42F50-5AE7-1B14-F2C7-1C1CC4A947F2}"/>
              </a:ext>
            </a:extLst>
          </p:cNvPr>
          <p:cNvSpPr txBox="1"/>
          <p:nvPr/>
        </p:nvSpPr>
        <p:spPr>
          <a:xfrm>
            <a:off x="6567854" y="801869"/>
            <a:ext cx="8493369" cy="646331"/>
          </a:xfrm>
          <a:prstGeom prst="rect">
            <a:avLst/>
          </a:prstGeom>
          <a:noFill/>
        </p:spPr>
        <p:txBody>
          <a:bodyPr wrap="square" rtlCol="0">
            <a:spAutoFit/>
          </a:bodyPr>
          <a:lstStyle/>
          <a:p>
            <a:r>
              <a:rPr lang="en-US" sz="3600" b="1" dirty="0">
                <a:latin typeface="Agency FB" panose="020B0503020202020204" pitchFamily="34" charset="0"/>
              </a:rPr>
              <a:t>CROP AND WEED DETECTION</a:t>
            </a:r>
            <a:endParaRPr lang="en-IN" sz="3600" b="1" dirty="0">
              <a:latin typeface="Agency FB" panose="020B0503020202020204" pitchFamily="34" charset="0"/>
            </a:endParaRPr>
          </a:p>
        </p:txBody>
      </p:sp>
      <p:pic>
        <p:nvPicPr>
          <p:cNvPr id="12" name="Picture 11">
            <a:extLst>
              <a:ext uri="{FF2B5EF4-FFF2-40B4-BE49-F238E27FC236}">
                <a16:creationId xmlns="" xmlns:a16="http://schemas.microsoft.com/office/drawing/2014/main" id="{FE57999D-603F-5581-BD9F-31C9CF684E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0414" y="5552343"/>
            <a:ext cx="4981857" cy="2480019"/>
          </a:xfrm>
          <a:prstGeom prst="rect">
            <a:avLst/>
          </a:prstGeom>
        </p:spPr>
      </p:pic>
      <p:pic>
        <p:nvPicPr>
          <p:cNvPr id="13" name="Picture 12">
            <a:extLst>
              <a:ext uri="{FF2B5EF4-FFF2-40B4-BE49-F238E27FC236}">
                <a16:creationId xmlns="" xmlns:a16="http://schemas.microsoft.com/office/drawing/2014/main" id="{3C5D13D1-BBB6-11E5-7449-7C9D74B762A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50312" y="5552344"/>
            <a:ext cx="3444423" cy="2518097"/>
          </a:xfrm>
          <a:prstGeom prst="rect">
            <a:avLst/>
          </a:prstGeom>
        </p:spPr>
      </p:pic>
    </p:spTree>
    <p:extLst>
      <p:ext uri="{BB962C8B-B14F-4D97-AF65-F5344CB8AC3E}">
        <p14:creationId xmlns:p14="http://schemas.microsoft.com/office/powerpoint/2010/main" val="2047746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2" name="Google Shape;124;p7">
            <a:extLst>
              <a:ext uri="{FF2B5EF4-FFF2-40B4-BE49-F238E27FC236}">
                <a16:creationId xmlns="" xmlns:a16="http://schemas.microsoft.com/office/drawing/2014/main" id="{E2F2A9E7-8BAB-A541-0D23-42A6B8656F8B}"/>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8" name="Rectangle: Rounded Corners 7">
            <a:extLst>
              <a:ext uri="{FF2B5EF4-FFF2-40B4-BE49-F238E27FC236}">
                <a16:creationId xmlns="" xmlns:a16="http://schemas.microsoft.com/office/drawing/2014/main" id="{FA72F826-2CA3-DAB9-E2BD-5A4EDCA71578}"/>
              </a:ext>
            </a:extLst>
          </p:cNvPr>
          <p:cNvSpPr/>
          <p:nvPr/>
        </p:nvSpPr>
        <p:spPr>
          <a:xfrm>
            <a:off x="234727" y="1813560"/>
            <a:ext cx="8553319" cy="7589520"/>
          </a:xfrm>
          <a:prstGeom prst="roundRect">
            <a:avLst>
              <a:gd name="adj" fmla="val 374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oogle Shape;127;p7">
            <a:extLst>
              <a:ext uri="{FF2B5EF4-FFF2-40B4-BE49-F238E27FC236}">
                <a16:creationId xmlns="" xmlns:a16="http://schemas.microsoft.com/office/drawing/2014/main" id="{DC519F30-4630-38ED-D459-1B812037714F}"/>
              </a:ext>
            </a:extLst>
          </p:cNvPr>
          <p:cNvPicPr preferRelativeResize="0"/>
          <p:nvPr/>
        </p:nvPicPr>
        <p:blipFill>
          <a:blip r:embed="rId4">
            <a:alphaModFix/>
          </a:blip>
          <a:stretch>
            <a:fillRect/>
          </a:stretch>
        </p:blipFill>
        <p:spPr>
          <a:xfrm>
            <a:off x="13416855" y="0"/>
            <a:ext cx="3612700" cy="1300575"/>
          </a:xfrm>
          <a:prstGeom prst="rect">
            <a:avLst/>
          </a:prstGeom>
          <a:noFill/>
          <a:ln>
            <a:noFill/>
          </a:ln>
        </p:spPr>
      </p:pic>
      <p:sp>
        <p:nvSpPr>
          <p:cNvPr id="4" name="Google Shape;126;p7">
            <a:extLst>
              <a:ext uri="{FF2B5EF4-FFF2-40B4-BE49-F238E27FC236}">
                <a16:creationId xmlns="" xmlns:a16="http://schemas.microsoft.com/office/drawing/2014/main" id="{C2EFDDD3-739A-9C65-BBAF-EB655EBCB98B}"/>
              </a:ext>
            </a:extLst>
          </p:cNvPr>
          <p:cNvSpPr txBox="1"/>
          <p:nvPr/>
        </p:nvSpPr>
        <p:spPr>
          <a:xfrm>
            <a:off x="371614" y="2815689"/>
            <a:ext cx="8025626" cy="6155501"/>
          </a:xfrm>
          <a:prstGeom prst="rect">
            <a:avLst/>
          </a:prstGeom>
          <a:noFill/>
          <a:ln>
            <a:noFill/>
          </a:ln>
        </p:spPr>
        <p:txBody>
          <a:bodyPr spcFirstLastPara="1" wrap="square" lIns="91425" tIns="91425" rIns="91425" bIns="91425" anchor="t" anchorCtr="0">
            <a:spAutoFit/>
          </a:bodyPr>
          <a:lstStyle/>
          <a:p>
            <a:pPr marL="342900" indent="-342900" algn="just">
              <a:buFont typeface="Arial" panose="020B0604020202020204" pitchFamily="34" charset="0"/>
              <a:buChar char="•"/>
            </a:pPr>
            <a:r>
              <a:rPr lang="en-US" sz="2400" b="1" dirty="0"/>
              <a:t>Real-Time Monitoring &amp; Precision Insights: </a:t>
            </a:r>
            <a:r>
              <a:rPr lang="en-US" sz="2200" dirty="0"/>
              <a:t>Provides accurate, real-time data on crop health, pests, soil conditions, and livestock movement, enabling quick decision-making.</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Optimized Resource Utilization: </a:t>
            </a:r>
            <a:r>
              <a:rPr lang="en-US" sz="2200" dirty="0"/>
              <a:t>Reduces excessive use of fertilizers, pesticides, and water through data-driven recommendations, improving sustainability and cost-effectiveness.</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Improved Yield &amp; Pest Control: </a:t>
            </a:r>
            <a:r>
              <a:rPr lang="en-US" sz="2200" dirty="0"/>
              <a:t>Early detection of diseases and pest infestations prevents crop damage, ensuring better yield quality and quantity.</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b="1" dirty="0"/>
              <a:t>Reduced Labor &amp; Increased Efficiency: </a:t>
            </a:r>
            <a:r>
              <a:rPr lang="en-US" sz="2200" dirty="0"/>
              <a:t>Automates farm surveillance and livestock management, minimizing manual efforts and operational costs.</a:t>
            </a:r>
          </a:p>
        </p:txBody>
      </p:sp>
      <p:sp>
        <p:nvSpPr>
          <p:cNvPr id="3" name="Google Shape;125;p7">
            <a:extLst>
              <a:ext uri="{FF2B5EF4-FFF2-40B4-BE49-F238E27FC236}">
                <a16:creationId xmlns="" xmlns:a16="http://schemas.microsoft.com/office/drawing/2014/main" id="{65C3E6E0-4AAE-8EAF-473D-59CA810F5242}"/>
              </a:ext>
            </a:extLst>
          </p:cNvPr>
          <p:cNvSpPr txBox="1"/>
          <p:nvPr/>
        </p:nvSpPr>
        <p:spPr>
          <a:xfrm>
            <a:off x="572486" y="2040717"/>
            <a:ext cx="7184100" cy="76941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800" b="1" i="0" u="none" strike="noStrike" cap="none" dirty="0">
                <a:solidFill>
                  <a:srgbClr val="009900"/>
                </a:solidFill>
                <a:latin typeface="Arial"/>
                <a:ea typeface="Arial"/>
                <a:cs typeface="Arial"/>
                <a:sym typeface="Arial"/>
              </a:rPr>
              <a:t>Advantages:</a:t>
            </a:r>
            <a:endParaRPr sz="3800" b="1" i="0" u="none" strike="noStrike" cap="none" dirty="0">
              <a:solidFill>
                <a:srgbClr val="009900"/>
              </a:solidFill>
              <a:latin typeface="Arial"/>
              <a:ea typeface="Arial"/>
              <a:cs typeface="Arial"/>
              <a:sym typeface="Arial"/>
            </a:endParaRPr>
          </a:p>
        </p:txBody>
      </p:sp>
      <p:sp>
        <p:nvSpPr>
          <p:cNvPr id="9" name="Rectangle: Rounded Corners 8">
            <a:extLst>
              <a:ext uri="{FF2B5EF4-FFF2-40B4-BE49-F238E27FC236}">
                <a16:creationId xmlns="" xmlns:a16="http://schemas.microsoft.com/office/drawing/2014/main" id="{36515DEB-B7F5-4D1F-0317-780F003405B2}"/>
              </a:ext>
            </a:extLst>
          </p:cNvPr>
          <p:cNvSpPr/>
          <p:nvPr/>
        </p:nvSpPr>
        <p:spPr>
          <a:xfrm>
            <a:off x="8987291" y="1813561"/>
            <a:ext cx="7075670" cy="3329939"/>
          </a:xfrm>
          <a:prstGeom prst="roundRect">
            <a:avLst>
              <a:gd name="adj" fmla="val 3744"/>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Google Shape;126;p7">
            <a:extLst>
              <a:ext uri="{FF2B5EF4-FFF2-40B4-BE49-F238E27FC236}">
                <a16:creationId xmlns="" xmlns:a16="http://schemas.microsoft.com/office/drawing/2014/main" id="{39CF9144-2887-20E0-9867-AF949ACE574B}"/>
              </a:ext>
            </a:extLst>
          </p:cNvPr>
          <p:cNvSpPr txBox="1"/>
          <p:nvPr/>
        </p:nvSpPr>
        <p:spPr>
          <a:xfrm>
            <a:off x="8924933" y="2808641"/>
            <a:ext cx="7075670" cy="1569630"/>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2400" b="1" dirty="0"/>
              <a:t>Technical Dependency &amp; Maintenance: </a:t>
            </a:r>
            <a:r>
              <a:rPr lang="en-US" sz="2200" dirty="0"/>
              <a:t>Requires regular software updates, sensor calibration, and skilled operation, posing difficulties in rural areas with limited technical expertise.</a:t>
            </a:r>
            <a:endParaRPr sz="2200" i="0" u="none" strike="noStrike" cap="none" dirty="0">
              <a:solidFill>
                <a:schemeClr val="dk1"/>
              </a:solidFill>
              <a:sym typeface="Arial"/>
            </a:endParaRPr>
          </a:p>
        </p:txBody>
      </p:sp>
      <p:sp>
        <p:nvSpPr>
          <p:cNvPr id="7" name="Google Shape;125;p7">
            <a:extLst>
              <a:ext uri="{FF2B5EF4-FFF2-40B4-BE49-F238E27FC236}">
                <a16:creationId xmlns="" xmlns:a16="http://schemas.microsoft.com/office/drawing/2014/main" id="{48533D26-2FCB-2EA7-A765-8292869DCDFC}"/>
              </a:ext>
            </a:extLst>
          </p:cNvPr>
          <p:cNvSpPr txBox="1"/>
          <p:nvPr/>
        </p:nvSpPr>
        <p:spPr>
          <a:xfrm>
            <a:off x="9144000" y="2076789"/>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rgbClr val="C00000"/>
                </a:solidFill>
                <a:latin typeface="Arial"/>
                <a:ea typeface="Arial"/>
                <a:cs typeface="Arial"/>
                <a:sym typeface="Arial"/>
              </a:rPr>
              <a:t>Disadvantages:</a:t>
            </a:r>
            <a:endParaRPr sz="3600" b="1" i="0" u="none" strike="noStrike" cap="none" dirty="0">
              <a:solidFill>
                <a:srgbClr val="C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2" name="Google Shape;132;p8">
            <a:extLst>
              <a:ext uri="{FF2B5EF4-FFF2-40B4-BE49-F238E27FC236}">
                <a16:creationId xmlns="" xmlns:a16="http://schemas.microsoft.com/office/drawing/2014/main" id="{64A43135-6235-8D95-73B2-125149D02B22}"/>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3" name="Google Shape;133;p8">
            <a:extLst>
              <a:ext uri="{FF2B5EF4-FFF2-40B4-BE49-F238E27FC236}">
                <a16:creationId xmlns="" xmlns:a16="http://schemas.microsoft.com/office/drawing/2014/main" id="{67004D18-A6F9-A25A-9C38-E243B061A7E3}"/>
              </a:ext>
            </a:extLst>
          </p:cNvPr>
          <p:cNvSpPr txBox="1"/>
          <p:nvPr/>
        </p:nvSpPr>
        <p:spPr>
          <a:xfrm>
            <a:off x="6955905" y="1774633"/>
            <a:ext cx="3723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sng" strike="noStrike" cap="none">
                <a:solidFill>
                  <a:schemeClr val="dk1"/>
                </a:solidFill>
                <a:latin typeface="Arial"/>
                <a:ea typeface="Arial"/>
                <a:cs typeface="Arial"/>
                <a:sym typeface="Arial"/>
              </a:rPr>
              <a:t>Conclusion</a:t>
            </a:r>
            <a:endParaRPr sz="3600" b="1" i="0" u="sng" strike="noStrike" cap="none">
              <a:solidFill>
                <a:schemeClr val="dk1"/>
              </a:solidFill>
              <a:latin typeface="Arial"/>
              <a:ea typeface="Arial"/>
              <a:cs typeface="Arial"/>
              <a:sym typeface="Arial"/>
            </a:endParaRPr>
          </a:p>
        </p:txBody>
      </p:sp>
      <p:sp>
        <p:nvSpPr>
          <p:cNvPr id="4" name="Google Shape;134;p8">
            <a:extLst>
              <a:ext uri="{FF2B5EF4-FFF2-40B4-BE49-F238E27FC236}">
                <a16:creationId xmlns="" xmlns:a16="http://schemas.microsoft.com/office/drawing/2014/main" id="{2DFD1BE3-1DD3-27F6-C79A-A11381083CB6}"/>
              </a:ext>
            </a:extLst>
          </p:cNvPr>
          <p:cNvSpPr txBox="1"/>
          <p:nvPr/>
        </p:nvSpPr>
        <p:spPr>
          <a:xfrm>
            <a:off x="677024" y="2835191"/>
            <a:ext cx="14315325" cy="6093946"/>
          </a:xfrm>
          <a:prstGeom prst="rect">
            <a:avLst/>
          </a:prstGeom>
          <a:noFill/>
          <a:ln>
            <a:noFill/>
          </a:ln>
        </p:spPr>
        <p:txBody>
          <a:bodyPr spcFirstLastPara="1" wrap="square" lIns="91425" tIns="91425" rIns="91425" bIns="91425" anchor="t" anchorCtr="0">
            <a:spAutoFit/>
          </a:bodyPr>
          <a:lstStyle/>
          <a:p>
            <a:pPr marL="342900" indent="-342900" algn="just">
              <a:buFont typeface="Arial" panose="020B0604020202020204" pitchFamily="34" charset="0"/>
              <a:buChar char="•"/>
            </a:pPr>
            <a:r>
              <a:rPr lang="en-US" sz="2400" b="1" dirty="0"/>
              <a:t>Revolutionizing Agriculture with Smart Technology: The integration of drones, AI, and </a:t>
            </a:r>
            <a:r>
              <a:rPr lang="en-US" sz="2400" b="1" dirty="0" err="1"/>
              <a:t>IoT</a:t>
            </a:r>
            <a:r>
              <a:rPr lang="en-US" sz="2400" b="1" dirty="0"/>
              <a:t> enhances precision farming, enabling real-time monitoring and data-driven decision-making.</a:t>
            </a:r>
          </a:p>
          <a:p>
            <a:pPr algn="just"/>
            <a:endParaRPr lang="en-US" sz="2400" b="1" dirty="0"/>
          </a:p>
          <a:p>
            <a:pPr marL="342900" indent="-342900" algn="just">
              <a:buFont typeface="Arial" panose="020B0604020202020204" pitchFamily="34" charset="0"/>
              <a:buChar char="•"/>
            </a:pPr>
            <a:r>
              <a:rPr lang="en-US" sz="2400" b="1" dirty="0"/>
              <a:t> Improved Efficiency &amp; Sustainability: The system optimizes resource usage, reduces manual labor, and promotes sustainable farming practices for better yield and environmental conservation.</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 Enhanced Pest &amp; Disease Management: Early detection and AI-powered analytics help prevent crop losses, ensuring higher productivity and improved farm profitability.</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Bridging Technology &amp; Farmer Accessibility: A user-friendly interface and automated insights make advanced agricultural technology accessible and practical for farmers of all scales.</a:t>
            </a:r>
          </a:p>
          <a:p>
            <a:pPr marL="342900" indent="-342900" algn="just">
              <a:buFont typeface="Arial" panose="020B0604020202020204" pitchFamily="34" charset="0"/>
              <a:buChar char="•"/>
            </a:pPr>
            <a:endParaRPr lang="en-US" sz="2400" b="1" dirty="0"/>
          </a:p>
          <a:p>
            <a:pPr marL="342900" indent="-342900" algn="just">
              <a:buFont typeface="Arial" panose="020B0604020202020204" pitchFamily="34" charset="0"/>
              <a:buChar char="•"/>
            </a:pPr>
            <a:r>
              <a:rPr lang="en-US" sz="2400" b="1" dirty="0"/>
              <a:t> Future Scope &amp; Scalability: With further advancements in AI, connectivity, and automation, the system can be expanded to support more crops, livestock management, and climate adaptation strategies.</a:t>
            </a:r>
          </a:p>
        </p:txBody>
      </p:sp>
      <p:pic>
        <p:nvPicPr>
          <p:cNvPr id="5" name="Google Shape;135;p8">
            <a:extLst>
              <a:ext uri="{FF2B5EF4-FFF2-40B4-BE49-F238E27FC236}">
                <a16:creationId xmlns="" xmlns:a16="http://schemas.microsoft.com/office/drawing/2014/main" id="{5DA17D9D-880B-0EED-F77C-D3732257FD9D}"/>
              </a:ext>
            </a:extLst>
          </p:cNvPr>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6" name="Google Shape;140;p9">
            <a:extLst>
              <a:ext uri="{FF2B5EF4-FFF2-40B4-BE49-F238E27FC236}">
                <a16:creationId xmlns="" xmlns:a16="http://schemas.microsoft.com/office/drawing/2014/main" id="{518CE5AE-7968-5CFA-BB77-C9C900B9BDC2}"/>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7" name="Google Shape;141;p9">
            <a:extLst>
              <a:ext uri="{FF2B5EF4-FFF2-40B4-BE49-F238E27FC236}">
                <a16:creationId xmlns="" xmlns:a16="http://schemas.microsoft.com/office/drawing/2014/main" id="{F45480C6-DD52-8419-602A-3D577F42C0F3}"/>
              </a:ext>
            </a:extLst>
          </p:cNvPr>
          <p:cNvSpPr txBox="1"/>
          <p:nvPr/>
        </p:nvSpPr>
        <p:spPr>
          <a:xfrm>
            <a:off x="7184504" y="1618053"/>
            <a:ext cx="5077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sng" strike="noStrike" cap="none">
                <a:solidFill>
                  <a:schemeClr val="dk1"/>
                </a:solidFill>
                <a:latin typeface="Arial"/>
                <a:ea typeface="Arial"/>
                <a:cs typeface="Arial"/>
                <a:sym typeface="Arial"/>
              </a:rPr>
              <a:t>References</a:t>
            </a:r>
            <a:endParaRPr sz="3600" b="1" i="0" u="sng" strike="noStrike" cap="none" dirty="0">
              <a:solidFill>
                <a:schemeClr val="dk1"/>
              </a:solidFill>
              <a:latin typeface="Arial"/>
              <a:ea typeface="Arial"/>
              <a:cs typeface="Arial"/>
              <a:sym typeface="Arial"/>
            </a:endParaRPr>
          </a:p>
        </p:txBody>
      </p:sp>
      <p:sp>
        <p:nvSpPr>
          <p:cNvPr id="8" name="Google Shape;142;p9">
            <a:extLst>
              <a:ext uri="{FF2B5EF4-FFF2-40B4-BE49-F238E27FC236}">
                <a16:creationId xmlns="" xmlns:a16="http://schemas.microsoft.com/office/drawing/2014/main" id="{32F44BFE-C39B-C347-D02E-2F2B2CED39E0}"/>
              </a:ext>
            </a:extLst>
          </p:cNvPr>
          <p:cNvSpPr txBox="1"/>
          <p:nvPr/>
        </p:nvSpPr>
        <p:spPr>
          <a:xfrm>
            <a:off x="677024" y="2379225"/>
            <a:ext cx="14684725" cy="7248108"/>
          </a:xfrm>
          <a:prstGeom prst="rect">
            <a:avLst/>
          </a:prstGeom>
          <a:noFill/>
          <a:ln>
            <a:noFill/>
          </a:ln>
        </p:spPr>
        <p:txBody>
          <a:bodyPr spcFirstLastPara="1" wrap="square" lIns="91425" tIns="91425" rIns="91425" bIns="91425" anchor="t" anchorCtr="0">
            <a:spAutoFit/>
          </a:bodyPr>
          <a:lstStyle/>
          <a:p>
            <a:pPr algn="just"/>
            <a:r>
              <a:rPr lang="en-IN" sz="1700" dirty="0">
                <a:latin typeface="Times New Roman" panose="02020603050405020304" pitchFamily="18" charset="0"/>
                <a:cs typeface="Times New Roman" panose="02020603050405020304" pitchFamily="18" charset="0"/>
              </a:rPr>
              <a:t>[1] </a:t>
            </a:r>
            <a:r>
              <a:rPr lang="en-IN" sz="1700" dirty="0" err="1">
                <a:latin typeface="Times New Roman" panose="02020603050405020304" pitchFamily="18" charset="0"/>
                <a:cs typeface="Times New Roman" panose="02020603050405020304" pitchFamily="18" charset="0"/>
              </a:rPr>
              <a:t>Tanima</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Bhowmik</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Debajyoti</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Mitra</a:t>
            </a:r>
            <a:r>
              <a:rPr lang="en-IN" sz="1700" dirty="0">
                <a:latin typeface="Times New Roman" panose="02020603050405020304" pitchFamily="18" charset="0"/>
                <a:cs typeface="Times New Roman" panose="02020603050405020304" pitchFamily="18" charset="0"/>
              </a:rPr>
              <a:t> and Pratyusha Chatterjee, "Machine Learning </a:t>
            </a:r>
            <a:r>
              <a:rPr lang="en-IN" sz="1700" dirty="0" err="1">
                <a:latin typeface="Times New Roman" panose="02020603050405020304" pitchFamily="18" charset="0"/>
                <a:cs typeface="Times New Roman" panose="02020603050405020304" pitchFamily="18" charset="0"/>
              </a:rPr>
              <a:t>BasedCrop</a:t>
            </a:r>
            <a:r>
              <a:rPr lang="en-IN" sz="1700" dirty="0">
                <a:latin typeface="Times New Roman" panose="02020603050405020304" pitchFamily="18" charset="0"/>
                <a:cs typeface="Times New Roman" panose="02020603050405020304" pitchFamily="18" charset="0"/>
              </a:rPr>
              <a:t> Recommendation Model in Precision Agriculture," 2024 International </a:t>
            </a:r>
            <a:r>
              <a:rPr lang="en-IN" sz="1700" dirty="0" err="1">
                <a:latin typeface="Times New Roman" panose="02020603050405020304" pitchFamily="18" charset="0"/>
                <a:cs typeface="Times New Roman" panose="02020603050405020304" pitchFamily="18" charset="0"/>
              </a:rPr>
              <a:t>Conferenceon</a:t>
            </a:r>
            <a:r>
              <a:rPr lang="en-IN" sz="1700" dirty="0">
                <a:latin typeface="Times New Roman" panose="02020603050405020304" pitchFamily="18" charset="0"/>
                <a:cs typeface="Times New Roman" panose="02020603050405020304" pitchFamily="18" charset="0"/>
              </a:rPr>
              <a:t> Emerging Smart Computing and Informatics (ESCI), Pune, India, 2-24. pp. 1-6, doi:10.1109/ESCI59607.2024.10497421.</a:t>
            </a:r>
          </a:p>
          <a:p>
            <a:pPr algn="just"/>
            <a:r>
              <a:rPr lang="en-IN" sz="1700" dirty="0">
                <a:latin typeface="Times New Roman" panose="02020603050405020304" pitchFamily="18" charset="0"/>
                <a:cs typeface="Times New Roman" panose="02020603050405020304" pitchFamily="18" charset="0"/>
              </a:rPr>
              <a:t>[2] </a:t>
            </a:r>
            <a:r>
              <a:rPr lang="en-IN" sz="1700" dirty="0" err="1">
                <a:latin typeface="Times New Roman" panose="02020603050405020304" pitchFamily="18" charset="0"/>
                <a:cs typeface="Times New Roman" panose="02020603050405020304" pitchFamily="18" charset="0"/>
              </a:rPr>
              <a:t>Demilie</a:t>
            </a:r>
            <a:r>
              <a:rPr lang="en-IN" sz="1700" dirty="0">
                <a:latin typeface="Times New Roman" panose="02020603050405020304" pitchFamily="18" charset="0"/>
                <a:cs typeface="Times New Roman" panose="02020603050405020304" pitchFamily="18" charset="0"/>
              </a:rPr>
              <a:t>, </a:t>
            </a:r>
            <a:r>
              <a:rPr lang="en-IN" sz="1700" dirty="0" err="1">
                <a:latin typeface="Times New Roman" panose="02020603050405020304" pitchFamily="18" charset="0"/>
                <a:cs typeface="Times New Roman" panose="02020603050405020304" pitchFamily="18" charset="0"/>
              </a:rPr>
              <a:t>W.B.,"Plant</a:t>
            </a:r>
            <a:r>
              <a:rPr lang="en-IN" sz="1700" dirty="0">
                <a:latin typeface="Times New Roman" panose="02020603050405020304" pitchFamily="18" charset="0"/>
                <a:cs typeface="Times New Roman" panose="02020603050405020304" pitchFamily="18" charset="0"/>
              </a:rPr>
              <a:t> Disease Detection and Classification Techniques: a </a:t>
            </a:r>
            <a:r>
              <a:rPr lang="en-IN" sz="1700" dirty="0" err="1">
                <a:latin typeface="Times New Roman" panose="02020603050405020304" pitchFamily="18" charset="0"/>
                <a:cs typeface="Times New Roman" panose="02020603050405020304" pitchFamily="18" charset="0"/>
              </a:rPr>
              <a:t>ComparativeStudy</a:t>
            </a:r>
            <a:r>
              <a:rPr lang="en-IN" sz="1700" dirty="0">
                <a:latin typeface="Times New Roman" panose="02020603050405020304" pitchFamily="18" charset="0"/>
                <a:cs typeface="Times New Roman" panose="02020603050405020304" pitchFamily="18" charset="0"/>
              </a:rPr>
              <a:t> of the Performances." Journal of Big Data, 11(1), p.5 , 2024.</a:t>
            </a:r>
          </a:p>
          <a:p>
            <a:pPr algn="just"/>
            <a:r>
              <a:rPr lang="en-IN" sz="1700" dirty="0">
                <a:latin typeface="Times New Roman" panose="02020603050405020304" pitchFamily="18" charset="0"/>
                <a:cs typeface="Times New Roman" panose="02020603050405020304" pitchFamily="18" charset="0"/>
              </a:rPr>
              <a:t>[3] </a:t>
            </a:r>
            <a:r>
              <a:rPr lang="en-IN" sz="1700" dirty="0" err="1">
                <a:latin typeface="Times New Roman" panose="02020603050405020304" pitchFamily="18" charset="0"/>
                <a:cs typeface="Times New Roman" panose="02020603050405020304" pitchFamily="18" charset="0"/>
              </a:rPr>
              <a:t>Adhinata</a:t>
            </a:r>
            <a:r>
              <a:rPr lang="en-IN" sz="1700" dirty="0">
                <a:latin typeface="Times New Roman" panose="02020603050405020304" pitchFamily="18" charset="0"/>
                <a:cs typeface="Times New Roman" panose="02020603050405020304" pitchFamily="18" charset="0"/>
              </a:rPr>
              <a:t>, F.D. and </a:t>
            </a:r>
            <a:r>
              <a:rPr lang="en-IN" sz="1700" dirty="0" err="1">
                <a:latin typeface="Times New Roman" panose="02020603050405020304" pitchFamily="18" charset="0"/>
                <a:cs typeface="Times New Roman" panose="02020603050405020304" pitchFamily="18" charset="0"/>
              </a:rPr>
              <a:t>Sumiharto</a:t>
            </a:r>
            <a:r>
              <a:rPr lang="en-IN" sz="1700" dirty="0">
                <a:latin typeface="Times New Roman" panose="02020603050405020304" pitchFamily="18" charset="0"/>
                <a:cs typeface="Times New Roman" panose="02020603050405020304" pitchFamily="18" charset="0"/>
              </a:rPr>
              <a:t>, R., "A Comprehensive Survey on Weed and </a:t>
            </a:r>
            <a:r>
              <a:rPr lang="en-IN" sz="1700" dirty="0" err="1">
                <a:latin typeface="Times New Roman" panose="02020603050405020304" pitchFamily="18" charset="0"/>
                <a:cs typeface="Times New Roman" panose="02020603050405020304" pitchFamily="18" charset="0"/>
              </a:rPr>
              <a:t>CropClassification</a:t>
            </a:r>
            <a:r>
              <a:rPr lang="en-IN" sz="1700" dirty="0">
                <a:latin typeface="Times New Roman" panose="02020603050405020304" pitchFamily="18" charset="0"/>
                <a:cs typeface="Times New Roman" panose="02020603050405020304" pitchFamily="18" charset="0"/>
              </a:rPr>
              <a:t> Using Machine Learning and Deep Learning." Artificial Intelligence inAgriculture,2024.</a:t>
            </a:r>
          </a:p>
          <a:p>
            <a:pPr algn="just"/>
            <a:r>
              <a:rPr lang="en-IN" sz="1700" dirty="0">
                <a:latin typeface="Times New Roman" panose="02020603050405020304" pitchFamily="18" charset="0"/>
                <a:cs typeface="Times New Roman" panose="02020603050405020304" pitchFamily="18" charset="0"/>
              </a:rPr>
              <a:t>[4] </a:t>
            </a:r>
            <a:r>
              <a:rPr lang="en-IN" sz="1700" dirty="0" err="1">
                <a:latin typeface="Times New Roman" panose="02020603050405020304" pitchFamily="18" charset="0"/>
                <a:cs typeface="Times New Roman" panose="02020603050405020304" pitchFamily="18" charset="0"/>
              </a:rPr>
              <a:t>Amrani</a:t>
            </a:r>
            <a:r>
              <a:rPr lang="en-IN" sz="1700" dirty="0">
                <a:latin typeface="Times New Roman" panose="02020603050405020304" pitchFamily="18" charset="0"/>
                <a:cs typeface="Times New Roman" panose="02020603050405020304" pitchFamily="18" charset="0"/>
              </a:rPr>
              <a:t>, A., </a:t>
            </a:r>
            <a:r>
              <a:rPr lang="en-IN" sz="1700" dirty="0" err="1">
                <a:latin typeface="Times New Roman" panose="02020603050405020304" pitchFamily="18" charset="0"/>
                <a:cs typeface="Times New Roman" panose="02020603050405020304" pitchFamily="18" charset="0"/>
              </a:rPr>
              <a:t>Diepeveen</a:t>
            </a:r>
            <a:r>
              <a:rPr lang="en-IN" sz="1700" dirty="0">
                <a:latin typeface="Times New Roman" panose="02020603050405020304" pitchFamily="18" charset="0"/>
                <a:cs typeface="Times New Roman" panose="02020603050405020304" pitchFamily="18" charset="0"/>
              </a:rPr>
              <a:t>, D., Murray, D., Jones, M.G. and </a:t>
            </a:r>
            <a:r>
              <a:rPr lang="en-IN" sz="1700" dirty="0" err="1">
                <a:latin typeface="Times New Roman" panose="02020603050405020304" pitchFamily="18" charset="0"/>
                <a:cs typeface="Times New Roman" panose="02020603050405020304" pitchFamily="18" charset="0"/>
              </a:rPr>
              <a:t>Sohel</a:t>
            </a:r>
            <a:r>
              <a:rPr lang="en-IN" sz="1700" dirty="0">
                <a:latin typeface="Times New Roman" panose="02020603050405020304" pitchFamily="18" charset="0"/>
                <a:cs typeface="Times New Roman" panose="02020603050405020304" pitchFamily="18" charset="0"/>
              </a:rPr>
              <a:t>, F., "Multi-Task </a:t>
            </a:r>
            <a:r>
              <a:rPr lang="en-IN" sz="1700" dirty="0" err="1">
                <a:latin typeface="Times New Roman" panose="02020603050405020304" pitchFamily="18" charset="0"/>
                <a:cs typeface="Times New Roman" panose="02020603050405020304" pitchFamily="18" charset="0"/>
              </a:rPr>
              <a:t>LearningModel</a:t>
            </a:r>
            <a:r>
              <a:rPr lang="en-IN" sz="1700" dirty="0">
                <a:latin typeface="Times New Roman" panose="02020603050405020304" pitchFamily="18" charset="0"/>
                <a:cs typeface="Times New Roman" panose="02020603050405020304" pitchFamily="18" charset="0"/>
              </a:rPr>
              <a:t> for Agricultural Pest Detection from Crop-Plant imagery: A Bayesian </a:t>
            </a:r>
            <a:r>
              <a:rPr lang="en-IN" sz="1700" dirty="0" err="1">
                <a:latin typeface="Times New Roman" panose="02020603050405020304" pitchFamily="18" charset="0"/>
                <a:cs typeface="Times New Roman" panose="02020603050405020304" pitchFamily="18" charset="0"/>
              </a:rPr>
              <a:t>Approach.Computers</a:t>
            </a:r>
            <a:r>
              <a:rPr lang="en-IN" sz="1700" dirty="0">
                <a:latin typeface="Times New Roman" panose="02020603050405020304" pitchFamily="18" charset="0"/>
                <a:cs typeface="Times New Roman" panose="02020603050405020304" pitchFamily="18" charset="0"/>
              </a:rPr>
              <a:t> and Electronics in Agriculture, 218, p.108719, 2024.</a:t>
            </a:r>
          </a:p>
          <a:p>
            <a:pPr algn="just"/>
            <a:r>
              <a:rPr lang="en-IN" sz="1700" dirty="0">
                <a:latin typeface="Times New Roman" panose="02020603050405020304" pitchFamily="18" charset="0"/>
                <a:cs typeface="Times New Roman" panose="02020603050405020304" pitchFamily="18" charset="0"/>
              </a:rPr>
              <a:t>[5] </a:t>
            </a:r>
            <a:r>
              <a:rPr lang="vi-VN" sz="1700" dirty="0">
                <a:latin typeface="Times New Roman" panose="02020603050405020304" pitchFamily="18" charset="0"/>
                <a:cs typeface="Times New Roman" panose="02020603050405020304" pitchFamily="18" charset="0"/>
              </a:rPr>
              <a:t>Chen, C.J., Huang, Y.Y., Li, Y.S., Chang, C.Y. and Huang, Y.M. "An AIoT-based SmartAgricultural System for Pests Detection." IEEE Access, 8, pp.180750-180761, 2020.</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6</a:t>
            </a:r>
            <a:r>
              <a:rPr lang="vi-VN" sz="1700" dirty="0">
                <a:latin typeface="Times New Roman" panose="02020603050405020304" pitchFamily="18" charset="0"/>
                <a:cs typeface="Times New Roman" panose="02020603050405020304" pitchFamily="18" charset="0"/>
              </a:rPr>
              <a:t>] Radoglou-Grammatikis, P., Sarigiannidis, P., Lagkas, T. and Moscholios, I., "A Com-pilation of UAV Applications for Precision Agriculture," Computer Networks, 172,p.107148, 2020.</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7</a:t>
            </a:r>
            <a:r>
              <a:rPr lang="vi-VN" sz="1700" dirty="0">
                <a:latin typeface="Times New Roman" panose="02020603050405020304" pitchFamily="18" charset="0"/>
                <a:cs typeface="Times New Roman" panose="02020603050405020304" pitchFamily="18" charset="0"/>
              </a:rPr>
              <a:t>] Mekonnen, Yemeserach, Srikanth Namuduri, Lamar Burton, Arif Sarwat, and ShekharBhansali. "Machine Learning Techniques in Wireless Sensor Network based PrecisionAgriculture." Journal of the Electrochemical Society 167, no. 3 (2019): 037522, 2019.</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8</a:t>
            </a:r>
            <a:r>
              <a:rPr lang="vi-VN" sz="1700" dirty="0">
                <a:latin typeface="Times New Roman" panose="02020603050405020304" pitchFamily="18" charset="0"/>
                <a:cs typeface="Times New Roman" panose="02020603050405020304" pitchFamily="18" charset="0"/>
              </a:rPr>
              <a:t>] Meena, S.D., Susank, M., Guttula, T., Chandana, S.H. and Sheela, J., "Crop YieldImprovement with Weeds, Pest and Disease Detection." Procedia Computer Science,218, pp.2369-2382.</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9</a:t>
            </a:r>
            <a:r>
              <a:rPr lang="vi-VN" sz="1700" dirty="0">
                <a:latin typeface="Times New Roman" panose="02020603050405020304" pitchFamily="18" charset="0"/>
                <a:cs typeface="Times New Roman" panose="02020603050405020304" pitchFamily="18" charset="0"/>
              </a:rPr>
              <a:t>] Mythili, K. and Rangaraj, R., "Deep Learning with Particle Swarm based Hyper-parameter Tuning based Crop Recommendation for Better Crop Yield for PrecisionAgriculture." Indian Journal of Science and Technology, 14(17), pp.1325-1337, 2021.</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10</a:t>
            </a:r>
            <a:r>
              <a:rPr lang="vi-VN" sz="1700" dirty="0">
                <a:latin typeface="Times New Roman" panose="02020603050405020304" pitchFamily="18" charset="0"/>
                <a:cs typeface="Times New Roman" panose="02020603050405020304" pitchFamily="18" charset="0"/>
              </a:rPr>
              <a:t>] Senapaty, Murali Krishna, Abhishek Ray, and Neelamadhab Padhy. "IoT-enabledSoil Nutrient Analysis and Crop Recommendation Model for Precision Agriculture."Computers 12, no. 3:61, 2023.</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11</a:t>
            </a:r>
            <a:r>
              <a:rPr lang="vi-VN" sz="1700" dirty="0">
                <a:latin typeface="Times New Roman" panose="02020603050405020304" pitchFamily="18" charset="0"/>
                <a:cs typeface="Times New Roman" panose="02020603050405020304" pitchFamily="18" charset="0"/>
              </a:rPr>
              <a:t>] Thilakarathne, N.N., Bakar, M.S.A., Abas, P.E. and Yassin, H., "A Cloud-enabled CropRecommendation Platform for Machine Learning-driven Precision Farming," Sensors,22(16), p.6299, 2022.</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12</a:t>
            </a:r>
            <a:r>
              <a:rPr lang="vi-VN" sz="1700" dirty="0">
                <a:latin typeface="Times New Roman" panose="02020603050405020304" pitchFamily="18" charset="0"/>
                <a:cs typeface="Times New Roman" panose="02020603050405020304" pitchFamily="18" charset="0"/>
              </a:rPr>
              <a:t>] Mythili, K., and R. Rangaraj. "Crop Recommendation for Better Crop Yield for Preci-sion Agriculture using Ant Colony Optimization with Deep Learning Method." Annalsof the Romanian Society for Cell Biology (2021): 4783-4794, 2021.</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13</a:t>
            </a:r>
            <a:r>
              <a:rPr lang="vi-VN" sz="1700" dirty="0">
                <a:latin typeface="Times New Roman" panose="02020603050405020304" pitchFamily="18" charset="0"/>
                <a:cs typeface="Times New Roman" panose="02020603050405020304" pitchFamily="18" charset="0"/>
              </a:rPr>
              <a:t>] Boudaa, B., Abada, K., Aichouche, W.A. and Belakermi, A.N., "April. AdvancingPlant Diseases Detection with Pre-trained YOLO Models." In 2024 6th InternationalConference on Pattern Analysis and Intelligent Systems (PAIS) (pp. 1-6). IEEE, 2024.</a:t>
            </a:r>
            <a:endParaRPr lang="en-IN" sz="1700" dirty="0">
              <a:latin typeface="Times New Roman" panose="02020603050405020304" pitchFamily="18" charset="0"/>
              <a:cs typeface="Times New Roman" panose="02020603050405020304" pitchFamily="18" charset="0"/>
            </a:endParaRPr>
          </a:p>
          <a:p>
            <a:pPr algn="just"/>
            <a:r>
              <a:rPr lang="vi-VN" sz="1700" dirty="0">
                <a:latin typeface="Times New Roman" panose="02020603050405020304" pitchFamily="18" charset="0"/>
                <a:cs typeface="Times New Roman" panose="02020603050405020304" pitchFamily="18" charset="0"/>
              </a:rPr>
              <a:t>[</a:t>
            </a:r>
            <a:r>
              <a:rPr lang="en-IN" sz="1700" dirty="0">
                <a:latin typeface="Times New Roman" panose="02020603050405020304" pitchFamily="18" charset="0"/>
                <a:cs typeface="Times New Roman" panose="02020603050405020304" pitchFamily="18" charset="0"/>
              </a:rPr>
              <a:t>14</a:t>
            </a:r>
            <a:r>
              <a:rPr lang="vi-VN" sz="1700" dirty="0">
                <a:latin typeface="Times New Roman" panose="02020603050405020304" pitchFamily="18" charset="0"/>
                <a:cs typeface="Times New Roman" panose="02020603050405020304" pitchFamily="18" charset="0"/>
              </a:rPr>
              <a:t>] Choudhary, Mahendra, Rohit Sartandel, Anish Arun, Leena Ladge, Saroj Hiranwal,and Garima Mathur. "Crop Recommendation System and Plant Disease Classifica-tion using Machine Learning for Precision Agriculture." In Artificial Intelligence andCommunication Technologies, SCRS, pp. 39-49. 2022.</a:t>
            </a:r>
          </a:p>
        </p:txBody>
      </p:sp>
      <p:pic>
        <p:nvPicPr>
          <p:cNvPr id="9" name="Google Shape;143;p9">
            <a:extLst>
              <a:ext uri="{FF2B5EF4-FFF2-40B4-BE49-F238E27FC236}">
                <a16:creationId xmlns="" xmlns:a16="http://schemas.microsoft.com/office/drawing/2014/main" id="{3D196F91-B0E4-EF4B-AD6F-0F72AFFF9021}"/>
              </a:ext>
            </a:extLst>
          </p:cNvPr>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10"/>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9" name="Google Shape;149;p10"/>
          <p:cNvSpPr txBox="1"/>
          <p:nvPr/>
        </p:nvSpPr>
        <p:spPr>
          <a:xfrm>
            <a:off x="3253475" y="4312350"/>
            <a:ext cx="67890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0"/>
              <a:buFont typeface="Arial"/>
              <a:buNone/>
            </a:pPr>
            <a:r>
              <a:rPr lang="en" sz="10000" b="1" i="0" u="sng" strike="noStrike" cap="none">
                <a:solidFill>
                  <a:srgbClr val="00425D"/>
                </a:solidFill>
                <a:latin typeface="Arial"/>
                <a:ea typeface="Arial"/>
                <a:cs typeface="Arial"/>
                <a:sym typeface="Arial"/>
              </a:rPr>
              <a:t>Thank You</a:t>
            </a:r>
            <a:endParaRPr sz="10000" b="0" i="0" u="sng"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2030</Words>
  <Application>Microsoft Office PowerPoint</Application>
  <PresentationFormat>Custom</PresentationFormat>
  <Paragraphs>126</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Montserrat Medium</vt:lpstr>
      <vt:lpstr>Calibri Light</vt:lpstr>
      <vt:lpstr>Montserrat SemiBold</vt:lpstr>
      <vt:lpstr>Agency FB</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Heyram EEE</dc:creator>
  <cp:lastModifiedBy>Microsoft account</cp:lastModifiedBy>
  <cp:revision>21</cp:revision>
  <dcterms:modified xsi:type="dcterms:W3CDTF">2025-03-30T17:40:50Z</dcterms:modified>
</cp:coreProperties>
</file>